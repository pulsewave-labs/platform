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00E5A0">
              <a:alpha val="40000"/>
            </a:srgbClr>
          </a:solidFill>
          <a:ln/>
        </p:spPr>
      </p:sp>
      <p:sp>
        <p:nvSpPr>
          <p:cNvPr id="3" name="Shape 1"/>
          <p:cNvSpPr/>
          <p:nvPr/>
        </p:nvSpPr>
        <p:spPr>
          <a:xfrm>
            <a:off x="2926080" y="1097280"/>
            <a:ext cx="3291840" cy="320040"/>
          </a:xfrm>
          <a:prstGeom prst="rect">
            <a:avLst>
              <a:gd name="adj" fmla="val 42857"/>
            </a:avLst>
          </a:prstGeom>
          <a:solidFill>
            <a:srgbClr val="00E5A0">
              <a:alpha val="10000"/>
            </a:srgbClr>
          </a:solidFill>
          <a:ln w="6350">
            <a:solidFill>
              <a:srgbClr val="00E5A0"/>
            </a:solidFill>
            <a:prstDash val="solid"/>
          </a:ln>
        </p:spPr>
      </p:sp>
      <p:sp>
        <p:nvSpPr>
          <p:cNvPr id="4" name="Text 2"/>
          <p:cNvSpPr/>
          <p:nvPr/>
        </p:nvSpPr>
        <p:spPr>
          <a:xfrm>
            <a:off x="2926080" y="1097280"/>
            <a:ext cx="3291840" cy="320040"/>
          </a:xfrm>
          <a:prstGeom prst="rect">
            <a:avLst/>
          </a:prstGeom>
          <a:noFill/>
          <a:ln/>
        </p:spPr>
        <p:txBody>
          <a:bodyPr wrap="square" rtlCol="0" anchor="ctr"/>
          <a:lstStyle/>
          <a:p>
            <a:pPr algn="ctr" indent="0" marL="0">
              <a:buNone/>
            </a:pPr>
            <a:r>
              <a:rPr lang="en-US" sz="800" spc="300" kern="0" dirty="0">
                <a:solidFill>
                  <a:srgbClr val="00E5A0"/>
                </a:solidFill>
                <a:latin typeface="Courier New" pitchFamily="34" charset="0"/>
                <a:ea typeface="Courier New" pitchFamily="34" charset="-122"/>
                <a:cs typeface="Courier New" pitchFamily="34" charset="-120"/>
              </a:rPr>
              <a:t>FREE PLAYBOOK — PULSEWAVE LABS</a:t>
            </a:r>
            <a:endParaRPr lang="en-US" sz="800" dirty="0"/>
          </a:p>
        </p:txBody>
      </p:sp>
      <p:sp>
        <p:nvSpPr>
          <p:cNvPr id="5" name="Text 3"/>
          <p:cNvSpPr/>
          <p:nvPr/>
        </p:nvSpPr>
        <p:spPr>
          <a:xfrm>
            <a:off x="731520" y="1737360"/>
            <a:ext cx="7680960" cy="1645920"/>
          </a:xfrm>
          <a:prstGeom prst="rect">
            <a:avLst/>
          </a:prstGeom>
          <a:noFill/>
          <a:ln/>
        </p:spPr>
        <p:txBody>
          <a:bodyPr wrap="square" rtlCol="0" anchor="ctr"/>
          <a:lstStyle/>
          <a:p>
            <a:pPr algn="ctr" indent="0" marL="0">
              <a:lnSpc>
                <a:spcPts val="5400"/>
              </a:lnSpc>
              <a:buNone/>
            </a:pPr>
            <a:r>
              <a:rPr lang="en-US" sz="4800" b="1" dirty="0">
                <a:solidFill>
                  <a:srgbClr val="FFFFFF"/>
                </a:solidFill>
                <a:latin typeface="Georgia" pitchFamily="34" charset="0"/>
                <a:ea typeface="Georgia" pitchFamily="34" charset="-122"/>
                <a:cs typeface="Georgia" pitchFamily="34" charset="-120"/>
              </a:rPr>
              <a:t>The 5-Pair</a:t>
            </a:r>
            <a:endParaRPr lang="en-US" sz="4800" dirty="0"/>
          </a:p>
          <a:p>
            <a:pPr algn="ctr" indent="0" marL="0">
              <a:lnSpc>
                <a:spcPts val="5400"/>
              </a:lnSpc>
              <a:buNone/>
            </a:pPr>
            <a:r>
              <a:rPr lang="en-US" sz="4800" b="1" dirty="0">
                <a:solidFill>
                  <a:srgbClr val="FFFFFF"/>
                </a:solidFill>
                <a:latin typeface="Georgia" pitchFamily="34" charset="0"/>
                <a:ea typeface="Georgia" pitchFamily="34" charset="-122"/>
                <a:cs typeface="Georgia" pitchFamily="34" charset="-120"/>
              </a:rPr>
              <a:t>Playbook</a:t>
            </a:r>
            <a:endParaRPr lang="en-US" sz="4800" dirty="0"/>
          </a:p>
        </p:txBody>
      </p:sp>
      <p:sp>
        <p:nvSpPr>
          <p:cNvPr id="6" name="Text 4"/>
          <p:cNvSpPr/>
          <p:nvPr/>
        </p:nvSpPr>
        <p:spPr>
          <a:xfrm>
            <a:off x="1371600" y="3383280"/>
            <a:ext cx="6400800" cy="822960"/>
          </a:xfrm>
          <a:prstGeom prst="rect">
            <a:avLst/>
          </a:prstGeom>
          <a:noFill/>
          <a:ln/>
        </p:spPr>
        <p:txBody>
          <a:bodyPr wrap="square" rtlCol="0" anchor="ctr"/>
          <a:lstStyle/>
          <a:p>
            <a:pPr algn="ctr" indent="0" marL="0">
              <a:lnSpc>
                <a:spcPts val="2200"/>
              </a:lnSpc>
              <a:buNone/>
            </a:pPr>
            <a:r>
              <a:rPr lang="en-US" sz="1600" dirty="0">
                <a:solidFill>
                  <a:srgbClr val="888888"/>
                </a:solidFill>
                <a:latin typeface="Calibri" pitchFamily="34" charset="0"/>
                <a:ea typeface="Calibri" pitchFamily="34" charset="-122"/>
                <a:cs typeface="Calibri" pitchFamily="34" charset="-120"/>
              </a:rPr>
              <a:t>How We Turned $10K Into $218K Trading</a:t>
            </a:r>
            <a:endParaRPr lang="en-US" sz="1600" dirty="0"/>
          </a:p>
          <a:p>
            <a:pPr algn="ctr" indent="0" marL="0">
              <a:lnSpc>
                <a:spcPts val="2200"/>
              </a:lnSpc>
              <a:buNone/>
            </a:pPr>
            <a:r>
              <a:rPr lang="en-US" sz="1600" dirty="0">
                <a:solidFill>
                  <a:srgbClr val="888888"/>
                </a:solidFill>
                <a:latin typeface="Calibri" pitchFamily="34" charset="0"/>
                <a:ea typeface="Calibri" pitchFamily="34" charset="-122"/>
                <a:cs typeface="Calibri" pitchFamily="34" charset="-120"/>
              </a:rPr>
              <a:t>5 Crypto Pairs — The Exact Framework</a:t>
            </a:r>
            <a:endParaRPr lang="en-US" sz="1600" dirty="0"/>
          </a:p>
        </p:txBody>
      </p:sp>
      <p:sp>
        <p:nvSpPr>
          <p:cNvPr id="7" name="Text 5"/>
          <p:cNvSpPr/>
          <p:nvPr/>
        </p:nvSpPr>
        <p:spPr>
          <a:xfrm>
            <a:off x="1188720" y="4434840"/>
            <a:ext cx="1463040" cy="320040"/>
          </a:xfrm>
          <a:prstGeom prst="rect">
            <a:avLst/>
          </a:prstGeom>
          <a:noFill/>
          <a:ln/>
        </p:spPr>
        <p:txBody>
          <a:bodyPr wrap="square" lIns="0" tIns="0" rIns="0" bIns="0" rtlCol="0" anchor="ctr"/>
          <a:lstStyle/>
          <a:p>
            <a:pPr algn="ctr" indent="0" marL="0">
              <a:buNone/>
            </a:pPr>
            <a:r>
              <a:rPr lang="en-US" sz="2000" b="1" dirty="0">
                <a:solidFill>
                  <a:srgbClr val="00E5A0"/>
                </a:solidFill>
                <a:latin typeface="Courier New" pitchFamily="34" charset="0"/>
                <a:ea typeface="Courier New" pitchFamily="34" charset="-122"/>
                <a:cs typeface="Courier New" pitchFamily="34" charset="-120"/>
              </a:rPr>
              <a:t>624</a:t>
            </a:r>
            <a:endParaRPr lang="en-US" sz="2000" dirty="0"/>
          </a:p>
        </p:txBody>
      </p:sp>
      <p:sp>
        <p:nvSpPr>
          <p:cNvPr id="8" name="Text 6"/>
          <p:cNvSpPr/>
          <p:nvPr/>
        </p:nvSpPr>
        <p:spPr>
          <a:xfrm>
            <a:off x="1188720" y="4709160"/>
            <a:ext cx="1463040" cy="22860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Trades</a:t>
            </a:r>
            <a:endParaRPr lang="en-US" sz="900" dirty="0"/>
          </a:p>
        </p:txBody>
      </p:sp>
      <p:sp>
        <p:nvSpPr>
          <p:cNvPr id="9" name="Text 7"/>
          <p:cNvSpPr/>
          <p:nvPr/>
        </p:nvSpPr>
        <p:spPr>
          <a:xfrm>
            <a:off x="3108960" y="4434840"/>
            <a:ext cx="1463040" cy="320040"/>
          </a:xfrm>
          <a:prstGeom prst="rect">
            <a:avLst/>
          </a:prstGeom>
          <a:noFill/>
          <a:ln/>
        </p:spPr>
        <p:txBody>
          <a:bodyPr wrap="square" lIns="0" tIns="0" rIns="0" bIns="0" rtlCol="0" anchor="ctr"/>
          <a:lstStyle/>
          <a:p>
            <a:pPr algn="ctr" indent="0" marL="0">
              <a:buNone/>
            </a:pPr>
            <a:r>
              <a:rPr lang="en-US" sz="2000" b="1" dirty="0">
                <a:solidFill>
                  <a:srgbClr val="00E5A0"/>
                </a:solidFill>
                <a:latin typeface="Courier New" pitchFamily="34" charset="0"/>
                <a:ea typeface="Courier New" pitchFamily="34" charset="-122"/>
                <a:cs typeface="Courier New" pitchFamily="34" charset="-120"/>
              </a:rPr>
              <a:t>40.7%</a:t>
            </a:r>
            <a:endParaRPr lang="en-US" sz="2000" dirty="0"/>
          </a:p>
        </p:txBody>
      </p:sp>
      <p:sp>
        <p:nvSpPr>
          <p:cNvPr id="10" name="Text 8"/>
          <p:cNvSpPr/>
          <p:nvPr/>
        </p:nvSpPr>
        <p:spPr>
          <a:xfrm>
            <a:off x="3108960" y="4709160"/>
            <a:ext cx="1463040" cy="22860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Win Rate</a:t>
            </a:r>
            <a:endParaRPr lang="en-US" sz="900" dirty="0"/>
          </a:p>
        </p:txBody>
      </p:sp>
      <p:sp>
        <p:nvSpPr>
          <p:cNvPr id="11" name="Text 9"/>
          <p:cNvSpPr/>
          <p:nvPr/>
        </p:nvSpPr>
        <p:spPr>
          <a:xfrm>
            <a:off x="5029200" y="4434840"/>
            <a:ext cx="1463040" cy="320040"/>
          </a:xfrm>
          <a:prstGeom prst="rect">
            <a:avLst/>
          </a:prstGeom>
          <a:noFill/>
          <a:ln/>
        </p:spPr>
        <p:txBody>
          <a:bodyPr wrap="square" lIns="0" tIns="0" rIns="0" bIns="0" rtlCol="0" anchor="ctr"/>
          <a:lstStyle/>
          <a:p>
            <a:pPr algn="ctr" indent="0" marL="0">
              <a:buNone/>
            </a:pPr>
            <a:r>
              <a:rPr lang="en-US" sz="2000" b="1" dirty="0">
                <a:solidFill>
                  <a:srgbClr val="00E5A0"/>
                </a:solidFill>
                <a:latin typeface="Courier New" pitchFamily="34" charset="0"/>
                <a:ea typeface="Courier New" pitchFamily="34" charset="-122"/>
                <a:cs typeface="Courier New" pitchFamily="34" charset="-120"/>
              </a:rPr>
              <a:t>1.52</a:t>
            </a:r>
            <a:endParaRPr lang="en-US" sz="2000" dirty="0"/>
          </a:p>
        </p:txBody>
      </p:sp>
      <p:sp>
        <p:nvSpPr>
          <p:cNvPr id="12" name="Text 10"/>
          <p:cNvSpPr/>
          <p:nvPr/>
        </p:nvSpPr>
        <p:spPr>
          <a:xfrm>
            <a:off x="5029200" y="4709160"/>
            <a:ext cx="1463040" cy="22860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Profit Factor</a:t>
            </a:r>
            <a:endParaRPr lang="en-US" sz="900" dirty="0"/>
          </a:p>
        </p:txBody>
      </p:sp>
      <p:sp>
        <p:nvSpPr>
          <p:cNvPr id="13" name="Text 11"/>
          <p:cNvSpPr/>
          <p:nvPr/>
        </p:nvSpPr>
        <p:spPr>
          <a:xfrm>
            <a:off x="6949440" y="4434840"/>
            <a:ext cx="1463040" cy="320040"/>
          </a:xfrm>
          <a:prstGeom prst="rect">
            <a:avLst/>
          </a:prstGeom>
          <a:noFill/>
          <a:ln/>
        </p:spPr>
        <p:txBody>
          <a:bodyPr wrap="square" lIns="0" tIns="0" rIns="0" bIns="0" rtlCol="0" anchor="ctr"/>
          <a:lstStyle/>
          <a:p>
            <a:pPr algn="ctr" indent="0" marL="0">
              <a:buNone/>
            </a:pPr>
            <a:r>
              <a:rPr lang="en-US" sz="2000" b="1" dirty="0">
                <a:solidFill>
                  <a:srgbClr val="00E5A0"/>
                </a:solidFill>
                <a:latin typeface="Courier New" pitchFamily="34" charset="0"/>
                <a:ea typeface="Courier New" pitchFamily="34" charset="-122"/>
                <a:cs typeface="Courier New" pitchFamily="34" charset="-120"/>
              </a:rPr>
              <a:t>$218K</a:t>
            </a:r>
            <a:endParaRPr lang="en-US" sz="2000" dirty="0"/>
          </a:p>
        </p:txBody>
      </p:sp>
      <p:sp>
        <p:nvSpPr>
          <p:cNvPr id="14" name="Text 12"/>
          <p:cNvSpPr/>
          <p:nvPr/>
        </p:nvSpPr>
        <p:spPr>
          <a:xfrm>
            <a:off x="6949440" y="4709160"/>
            <a:ext cx="1463040" cy="22860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From $10K</a:t>
            </a:r>
            <a:endParaRPr lang="en-US" sz="900" dirty="0"/>
          </a:p>
        </p:txBody>
      </p:sp>
      <p:sp>
        <p:nvSpPr>
          <p:cNvPr id="15" name="Text 13"/>
          <p:cNvSpPr/>
          <p:nvPr/>
        </p:nvSpPr>
        <p:spPr>
          <a:xfrm>
            <a:off x="0" y="4846320"/>
            <a:ext cx="9144000" cy="274320"/>
          </a:xfrm>
          <a:prstGeom prst="rect">
            <a:avLst/>
          </a:prstGeom>
          <a:noFill/>
          <a:ln/>
        </p:spPr>
        <p:txBody>
          <a:bodyPr wrap="square" rtlCol="0" anchor="ctr"/>
          <a:lstStyle/>
          <a:p>
            <a:pPr algn="ctr" indent="0" marL="0">
              <a:buNone/>
            </a:pPr>
            <a:r>
              <a:rPr lang="en-US" sz="900" dirty="0">
                <a:solidFill>
                  <a:srgbClr val="444444"/>
                </a:solidFill>
                <a:latin typeface="Courier New" pitchFamily="34" charset="0"/>
                <a:ea typeface="Courier New" pitchFamily="34" charset="-122"/>
                <a:cs typeface="Courier New" pitchFamily="34" charset="-120"/>
              </a:rPr>
              <a:t>pulsewavelabs.io</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01</a:t>
            </a:r>
            <a:endParaRPr lang="en-US" sz="3600" dirty="0"/>
          </a:p>
        </p:txBody>
      </p:sp>
      <p:sp>
        <p:nvSpPr>
          <p:cNvPr id="3" name="Text 1"/>
          <p:cNvSpPr/>
          <p:nvPr/>
        </p:nvSpPr>
        <p:spPr>
          <a:xfrm>
            <a:off x="548640" y="685800"/>
            <a:ext cx="54864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Why We Only Trade 5 Pairs</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Text 3"/>
          <p:cNvSpPr/>
          <p:nvPr/>
        </p:nvSpPr>
        <p:spPr>
          <a:xfrm>
            <a:off x="548640" y="1371600"/>
            <a:ext cx="5029200" cy="548640"/>
          </a:xfrm>
          <a:prstGeom prst="rect">
            <a:avLst/>
          </a:prstGeom>
          <a:noFill/>
          <a:ln/>
        </p:spPr>
        <p:txBody>
          <a:bodyPr wrap="square" rtlCol="0" anchor="ctr"/>
          <a:lstStyle/>
          <a:p>
            <a:pPr indent="0" marL="0">
              <a:lnSpc>
                <a:spcPts val="2000"/>
              </a:lnSpc>
              <a:buNone/>
            </a:pPr>
            <a:r>
              <a:rPr lang="en-US" sz="1300" dirty="0">
                <a:solidFill>
                  <a:srgbClr val="888888"/>
                </a:solidFill>
                <a:latin typeface="Calibri" pitchFamily="34" charset="0"/>
                <a:ea typeface="Calibri" pitchFamily="34" charset="-122"/>
                <a:cs typeface="Calibri" pitchFamily="34" charset="-120"/>
              </a:rPr>
              <a:t>Most traders spread across 20+ pairs and master none of them. We picked 5 and went deep.</a:t>
            </a:r>
            <a:endParaRPr lang="en-US" sz="1300" dirty="0"/>
          </a:p>
        </p:txBody>
      </p:sp>
      <p:sp>
        <p:nvSpPr>
          <p:cNvPr id="6" name="Shape 4"/>
          <p:cNvSpPr/>
          <p:nvPr/>
        </p:nvSpPr>
        <p:spPr>
          <a:xfrm>
            <a:off x="548640" y="2103120"/>
            <a:ext cx="4754880" cy="457200"/>
          </a:xfrm>
          <a:prstGeom prst="rect">
            <a:avLst/>
          </a:prstGeom>
          <a:solidFill>
            <a:srgbClr val="0D0D14"/>
          </a:solidFill>
          <a:ln w="3810">
            <a:solidFill>
              <a:srgbClr val="444444"/>
            </a:solidFill>
            <a:prstDash val="solid"/>
          </a:ln>
        </p:spPr>
      </p:sp>
      <p:sp>
        <p:nvSpPr>
          <p:cNvPr id="7" name="Text 5"/>
          <p:cNvSpPr/>
          <p:nvPr/>
        </p:nvSpPr>
        <p:spPr>
          <a:xfrm>
            <a:off x="685800" y="2103120"/>
            <a:ext cx="731520" cy="457200"/>
          </a:xfrm>
          <a:prstGeom prst="rect">
            <a:avLst/>
          </a:prstGeom>
          <a:noFill/>
          <a:ln/>
        </p:spPr>
        <p:txBody>
          <a:bodyPr wrap="square" lIns="0" tIns="0" rIns="0" bIns="0" rtlCol="0" anchor="ctr"/>
          <a:lstStyle/>
          <a:p>
            <a:pPr indent="0" marL="0">
              <a:buNone/>
            </a:pPr>
            <a:r>
              <a:rPr lang="en-US" sz="1400" b="1" dirty="0">
                <a:solidFill>
                  <a:srgbClr val="00E5A0"/>
                </a:solidFill>
                <a:latin typeface="Courier New" pitchFamily="34" charset="0"/>
                <a:ea typeface="Courier New" pitchFamily="34" charset="-122"/>
                <a:cs typeface="Courier New" pitchFamily="34" charset="-120"/>
              </a:rPr>
              <a:t>BTC</a:t>
            </a:r>
            <a:endParaRPr lang="en-US" sz="1400" dirty="0"/>
          </a:p>
        </p:txBody>
      </p:sp>
      <p:sp>
        <p:nvSpPr>
          <p:cNvPr id="8" name="Text 6"/>
          <p:cNvSpPr/>
          <p:nvPr/>
        </p:nvSpPr>
        <p:spPr>
          <a:xfrm>
            <a:off x="1463040" y="2103120"/>
            <a:ext cx="10972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Bitcoin</a:t>
            </a:r>
            <a:endParaRPr lang="en-US" sz="1200" dirty="0"/>
          </a:p>
        </p:txBody>
      </p:sp>
      <p:sp>
        <p:nvSpPr>
          <p:cNvPr id="9" name="Text 7"/>
          <p:cNvSpPr/>
          <p:nvPr/>
        </p:nvSpPr>
        <p:spPr>
          <a:xfrm>
            <a:off x="2651760" y="2103120"/>
            <a:ext cx="2560320" cy="4572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Highest liquidity, cleanest S/R levels</a:t>
            </a:r>
            <a:endParaRPr lang="en-US" sz="1000" dirty="0"/>
          </a:p>
        </p:txBody>
      </p:sp>
      <p:sp>
        <p:nvSpPr>
          <p:cNvPr id="10" name="Shape 8"/>
          <p:cNvSpPr/>
          <p:nvPr/>
        </p:nvSpPr>
        <p:spPr>
          <a:xfrm>
            <a:off x="548640" y="2651760"/>
            <a:ext cx="4754880" cy="457200"/>
          </a:xfrm>
          <a:prstGeom prst="rect">
            <a:avLst/>
          </a:prstGeom>
          <a:solidFill>
            <a:srgbClr val="0D0D14"/>
          </a:solidFill>
          <a:ln w="3810">
            <a:solidFill>
              <a:srgbClr val="444444"/>
            </a:solidFill>
            <a:prstDash val="solid"/>
          </a:ln>
        </p:spPr>
      </p:sp>
      <p:sp>
        <p:nvSpPr>
          <p:cNvPr id="11" name="Text 9"/>
          <p:cNvSpPr/>
          <p:nvPr/>
        </p:nvSpPr>
        <p:spPr>
          <a:xfrm>
            <a:off x="685800" y="2651760"/>
            <a:ext cx="731520" cy="457200"/>
          </a:xfrm>
          <a:prstGeom prst="rect">
            <a:avLst/>
          </a:prstGeom>
          <a:noFill/>
          <a:ln/>
        </p:spPr>
        <p:txBody>
          <a:bodyPr wrap="square" lIns="0" tIns="0" rIns="0" bIns="0" rtlCol="0" anchor="ctr"/>
          <a:lstStyle/>
          <a:p>
            <a:pPr indent="0" marL="0">
              <a:buNone/>
            </a:pPr>
            <a:r>
              <a:rPr lang="en-US" sz="1400" b="1" dirty="0">
                <a:solidFill>
                  <a:srgbClr val="00E5A0"/>
                </a:solidFill>
                <a:latin typeface="Courier New" pitchFamily="34" charset="0"/>
                <a:ea typeface="Courier New" pitchFamily="34" charset="-122"/>
                <a:cs typeface="Courier New" pitchFamily="34" charset="-120"/>
              </a:rPr>
              <a:t>ETH</a:t>
            </a:r>
            <a:endParaRPr lang="en-US" sz="1400" dirty="0"/>
          </a:p>
        </p:txBody>
      </p:sp>
      <p:sp>
        <p:nvSpPr>
          <p:cNvPr id="12" name="Text 10"/>
          <p:cNvSpPr/>
          <p:nvPr/>
        </p:nvSpPr>
        <p:spPr>
          <a:xfrm>
            <a:off x="1463040" y="2651760"/>
            <a:ext cx="10972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Ethereum</a:t>
            </a:r>
            <a:endParaRPr lang="en-US" sz="1200" dirty="0"/>
          </a:p>
        </p:txBody>
      </p:sp>
      <p:sp>
        <p:nvSpPr>
          <p:cNvPr id="13" name="Text 11"/>
          <p:cNvSpPr/>
          <p:nvPr/>
        </p:nvSpPr>
        <p:spPr>
          <a:xfrm>
            <a:off x="2651760" y="2651760"/>
            <a:ext cx="2560320" cy="4572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Strong trending behavior, great for momentum</a:t>
            </a:r>
            <a:endParaRPr lang="en-US" sz="1000" dirty="0"/>
          </a:p>
        </p:txBody>
      </p:sp>
      <p:sp>
        <p:nvSpPr>
          <p:cNvPr id="14" name="Shape 12"/>
          <p:cNvSpPr/>
          <p:nvPr/>
        </p:nvSpPr>
        <p:spPr>
          <a:xfrm>
            <a:off x="548640" y="3200400"/>
            <a:ext cx="4754880" cy="457200"/>
          </a:xfrm>
          <a:prstGeom prst="rect">
            <a:avLst/>
          </a:prstGeom>
          <a:solidFill>
            <a:srgbClr val="0D0D14"/>
          </a:solidFill>
          <a:ln w="3810">
            <a:solidFill>
              <a:srgbClr val="444444"/>
            </a:solidFill>
            <a:prstDash val="solid"/>
          </a:ln>
        </p:spPr>
      </p:sp>
      <p:sp>
        <p:nvSpPr>
          <p:cNvPr id="15" name="Text 13"/>
          <p:cNvSpPr/>
          <p:nvPr/>
        </p:nvSpPr>
        <p:spPr>
          <a:xfrm>
            <a:off x="685800" y="3200400"/>
            <a:ext cx="731520" cy="457200"/>
          </a:xfrm>
          <a:prstGeom prst="rect">
            <a:avLst/>
          </a:prstGeom>
          <a:noFill/>
          <a:ln/>
        </p:spPr>
        <p:txBody>
          <a:bodyPr wrap="square" lIns="0" tIns="0" rIns="0" bIns="0" rtlCol="0" anchor="ctr"/>
          <a:lstStyle/>
          <a:p>
            <a:pPr indent="0" marL="0">
              <a:buNone/>
            </a:pPr>
            <a:r>
              <a:rPr lang="en-US" sz="1400" b="1" dirty="0">
                <a:solidFill>
                  <a:srgbClr val="00E5A0"/>
                </a:solidFill>
                <a:latin typeface="Courier New" pitchFamily="34" charset="0"/>
                <a:ea typeface="Courier New" pitchFamily="34" charset="-122"/>
                <a:cs typeface="Courier New" pitchFamily="34" charset="-120"/>
              </a:rPr>
              <a:t>SOL</a:t>
            </a:r>
            <a:endParaRPr lang="en-US" sz="1400" dirty="0"/>
          </a:p>
        </p:txBody>
      </p:sp>
      <p:sp>
        <p:nvSpPr>
          <p:cNvPr id="16" name="Text 14"/>
          <p:cNvSpPr/>
          <p:nvPr/>
        </p:nvSpPr>
        <p:spPr>
          <a:xfrm>
            <a:off x="1463040" y="3200400"/>
            <a:ext cx="10972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Solana</a:t>
            </a:r>
            <a:endParaRPr lang="en-US" sz="1200" dirty="0"/>
          </a:p>
        </p:txBody>
      </p:sp>
      <p:sp>
        <p:nvSpPr>
          <p:cNvPr id="17" name="Text 15"/>
          <p:cNvSpPr/>
          <p:nvPr/>
        </p:nvSpPr>
        <p:spPr>
          <a:xfrm>
            <a:off x="2651760" y="3200400"/>
            <a:ext cx="2560320" cy="4572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High volatility = high R:R opportunities</a:t>
            </a:r>
            <a:endParaRPr lang="en-US" sz="1000" dirty="0"/>
          </a:p>
        </p:txBody>
      </p:sp>
      <p:sp>
        <p:nvSpPr>
          <p:cNvPr id="18" name="Shape 16"/>
          <p:cNvSpPr/>
          <p:nvPr/>
        </p:nvSpPr>
        <p:spPr>
          <a:xfrm>
            <a:off x="548640" y="3749040"/>
            <a:ext cx="4754880" cy="457200"/>
          </a:xfrm>
          <a:prstGeom prst="rect">
            <a:avLst/>
          </a:prstGeom>
          <a:solidFill>
            <a:srgbClr val="0D0D14"/>
          </a:solidFill>
          <a:ln w="3810">
            <a:solidFill>
              <a:srgbClr val="444444"/>
            </a:solidFill>
            <a:prstDash val="solid"/>
          </a:ln>
        </p:spPr>
      </p:sp>
      <p:sp>
        <p:nvSpPr>
          <p:cNvPr id="19" name="Text 17"/>
          <p:cNvSpPr/>
          <p:nvPr/>
        </p:nvSpPr>
        <p:spPr>
          <a:xfrm>
            <a:off x="685800" y="3749040"/>
            <a:ext cx="731520" cy="457200"/>
          </a:xfrm>
          <a:prstGeom prst="rect">
            <a:avLst/>
          </a:prstGeom>
          <a:noFill/>
          <a:ln/>
        </p:spPr>
        <p:txBody>
          <a:bodyPr wrap="square" lIns="0" tIns="0" rIns="0" bIns="0" rtlCol="0" anchor="ctr"/>
          <a:lstStyle/>
          <a:p>
            <a:pPr indent="0" marL="0">
              <a:buNone/>
            </a:pPr>
            <a:r>
              <a:rPr lang="en-US" sz="1400" b="1" dirty="0">
                <a:solidFill>
                  <a:srgbClr val="00E5A0"/>
                </a:solidFill>
                <a:latin typeface="Courier New" pitchFamily="34" charset="0"/>
                <a:ea typeface="Courier New" pitchFamily="34" charset="-122"/>
                <a:cs typeface="Courier New" pitchFamily="34" charset="-120"/>
              </a:rPr>
              <a:t>AVAX</a:t>
            </a:r>
            <a:endParaRPr lang="en-US" sz="1400" dirty="0"/>
          </a:p>
        </p:txBody>
      </p:sp>
      <p:sp>
        <p:nvSpPr>
          <p:cNvPr id="20" name="Text 18"/>
          <p:cNvSpPr/>
          <p:nvPr/>
        </p:nvSpPr>
        <p:spPr>
          <a:xfrm>
            <a:off x="1463040" y="3749040"/>
            <a:ext cx="10972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Avalanche</a:t>
            </a:r>
            <a:endParaRPr lang="en-US" sz="1200" dirty="0"/>
          </a:p>
        </p:txBody>
      </p:sp>
      <p:sp>
        <p:nvSpPr>
          <p:cNvPr id="21" name="Text 19"/>
          <p:cNvSpPr/>
          <p:nvPr/>
        </p:nvSpPr>
        <p:spPr>
          <a:xfrm>
            <a:off x="2651760" y="3749040"/>
            <a:ext cx="2560320" cy="4572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Mean-reverting, excellent for range plays</a:t>
            </a:r>
            <a:endParaRPr lang="en-US" sz="1000" dirty="0"/>
          </a:p>
        </p:txBody>
      </p:sp>
      <p:sp>
        <p:nvSpPr>
          <p:cNvPr id="22" name="Shape 20"/>
          <p:cNvSpPr/>
          <p:nvPr/>
        </p:nvSpPr>
        <p:spPr>
          <a:xfrm>
            <a:off x="548640" y="4297680"/>
            <a:ext cx="4754880" cy="457200"/>
          </a:xfrm>
          <a:prstGeom prst="rect">
            <a:avLst/>
          </a:prstGeom>
          <a:solidFill>
            <a:srgbClr val="0D0D14"/>
          </a:solidFill>
          <a:ln w="3810">
            <a:solidFill>
              <a:srgbClr val="444444"/>
            </a:solidFill>
            <a:prstDash val="solid"/>
          </a:ln>
        </p:spPr>
      </p:sp>
      <p:sp>
        <p:nvSpPr>
          <p:cNvPr id="23" name="Text 21"/>
          <p:cNvSpPr/>
          <p:nvPr/>
        </p:nvSpPr>
        <p:spPr>
          <a:xfrm>
            <a:off x="685800" y="4297680"/>
            <a:ext cx="731520" cy="457200"/>
          </a:xfrm>
          <a:prstGeom prst="rect">
            <a:avLst/>
          </a:prstGeom>
          <a:noFill/>
          <a:ln/>
        </p:spPr>
        <p:txBody>
          <a:bodyPr wrap="square" lIns="0" tIns="0" rIns="0" bIns="0" rtlCol="0" anchor="ctr"/>
          <a:lstStyle/>
          <a:p>
            <a:pPr indent="0" marL="0">
              <a:buNone/>
            </a:pPr>
            <a:r>
              <a:rPr lang="en-US" sz="1400" b="1" dirty="0">
                <a:solidFill>
                  <a:srgbClr val="00E5A0"/>
                </a:solidFill>
                <a:latin typeface="Courier New" pitchFamily="34" charset="0"/>
                <a:ea typeface="Courier New" pitchFamily="34" charset="-122"/>
                <a:cs typeface="Courier New" pitchFamily="34" charset="-120"/>
              </a:rPr>
              <a:t>XRP</a:t>
            </a:r>
            <a:endParaRPr lang="en-US" sz="1400" dirty="0"/>
          </a:p>
        </p:txBody>
      </p:sp>
      <p:sp>
        <p:nvSpPr>
          <p:cNvPr id="24" name="Text 22"/>
          <p:cNvSpPr/>
          <p:nvPr/>
        </p:nvSpPr>
        <p:spPr>
          <a:xfrm>
            <a:off x="1463040" y="4297680"/>
            <a:ext cx="1097280" cy="45720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Ripple</a:t>
            </a:r>
            <a:endParaRPr lang="en-US" sz="1200" dirty="0"/>
          </a:p>
        </p:txBody>
      </p:sp>
      <p:sp>
        <p:nvSpPr>
          <p:cNvPr id="25" name="Text 23"/>
          <p:cNvSpPr/>
          <p:nvPr/>
        </p:nvSpPr>
        <p:spPr>
          <a:xfrm>
            <a:off x="2651760" y="4297680"/>
            <a:ext cx="2560320" cy="45720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News-driven moves create sharp entries</a:t>
            </a:r>
            <a:endParaRPr lang="en-US" sz="1000" dirty="0"/>
          </a:p>
        </p:txBody>
      </p:sp>
      <p:sp>
        <p:nvSpPr>
          <p:cNvPr id="26" name="Shape 24"/>
          <p:cNvSpPr/>
          <p:nvPr/>
        </p:nvSpPr>
        <p:spPr>
          <a:xfrm>
            <a:off x="5760720" y="1371600"/>
            <a:ext cx="3017520" cy="3474720"/>
          </a:xfrm>
          <a:prstGeom prst="rect">
            <a:avLst/>
          </a:prstGeom>
          <a:solidFill>
            <a:srgbClr val="0D0D14"/>
          </a:solidFill>
          <a:ln w="6350">
            <a:solidFill>
              <a:srgbClr val="00E5A0"/>
            </a:solidFill>
            <a:prstDash val="solid"/>
          </a:ln>
          <a:effectLst>
            <a:outerShdw sx="100000" sy="100000" kx="0" ky="0" algn="bl" rotWithShape="0" blurRad="101600" dist="25400" dir="8100000">
              <a:srgbClr val="000000">
                <a:alpha val="30000"/>
              </a:srgbClr>
            </a:outerShdw>
          </a:effectLst>
        </p:spPr>
      </p:sp>
      <p:pic>
        <p:nvPicPr>
          <p:cNvPr id="27" name="Image 0" descr="preencoded.png">    </p:cNvPr>
          <p:cNvPicPr>
            <a:picLocks noChangeAspect="1"/>
          </p:cNvPicPr>
          <p:nvPr/>
        </p:nvPicPr>
        <p:blipFill>
          <a:blip r:embed="rId1"/>
          <a:stretch>
            <a:fillRect/>
          </a:stretch>
        </p:blipFill>
        <p:spPr>
          <a:xfrm>
            <a:off x="6903720" y="1600200"/>
            <a:ext cx="457200" cy="457200"/>
          </a:xfrm>
          <a:prstGeom prst="rect">
            <a:avLst/>
          </a:prstGeom>
        </p:spPr>
      </p:pic>
      <p:sp>
        <p:nvSpPr>
          <p:cNvPr id="28" name="Text 25"/>
          <p:cNvSpPr/>
          <p:nvPr/>
        </p:nvSpPr>
        <p:spPr>
          <a:xfrm>
            <a:off x="5943600" y="2148840"/>
            <a:ext cx="265176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The Key Insight</a:t>
            </a:r>
            <a:endParaRPr lang="en-US" sz="1500" dirty="0"/>
          </a:p>
        </p:txBody>
      </p:sp>
      <p:sp>
        <p:nvSpPr>
          <p:cNvPr id="29" name="Text 26"/>
          <p:cNvSpPr/>
          <p:nvPr/>
        </p:nvSpPr>
        <p:spPr>
          <a:xfrm>
            <a:off x="5989320" y="2560320"/>
            <a:ext cx="2560320" cy="2103120"/>
          </a:xfrm>
          <a:prstGeom prst="rect">
            <a:avLst/>
          </a:prstGeom>
          <a:noFill/>
          <a:ln/>
        </p:spPr>
        <p:txBody>
          <a:bodyPr wrap="square" rtlCol="0" anchor="ctr"/>
          <a:lstStyle/>
          <a:p>
            <a:pPr algn="l" indent="0" marL="0">
              <a:lnSpc>
                <a:spcPts val="1600"/>
              </a:lnSpc>
              <a:buNone/>
            </a:pPr>
            <a:r>
              <a:rPr lang="en-US" sz="1050" dirty="0">
                <a:solidFill>
                  <a:srgbClr val="C8C8C8"/>
                </a:solidFill>
                <a:latin typeface="Calibri" pitchFamily="34" charset="0"/>
                <a:ea typeface="Calibri" pitchFamily="34" charset="-122"/>
                <a:cs typeface="Calibri" pitchFamily="34" charset="-120"/>
              </a:rPr>
              <a:t>Mastery beats coverage.</a:t>
            </a:r>
            <a:endParaRPr lang="en-US" sz="1050" dirty="0"/>
          </a:p>
          <a:p>
            <a:pPr algn="l" indent="0" marL="0">
              <a:lnSpc>
                <a:spcPts val="1600"/>
              </a:lnSpc>
              <a:buNone/>
            </a:pPr>
            <a:endParaRPr lang="en-US" sz="1050" dirty="0"/>
          </a:p>
          <a:p>
            <a:pPr algn="l" indent="0" marL="0">
              <a:lnSpc>
                <a:spcPts val="1600"/>
              </a:lnSpc>
              <a:buNone/>
            </a:pPr>
            <a:r>
              <a:rPr lang="en-US" sz="1050" dirty="0">
                <a:solidFill>
                  <a:srgbClr val="C8C8C8"/>
                </a:solidFill>
                <a:latin typeface="Calibri" pitchFamily="34" charset="0"/>
                <a:ea typeface="Calibri" pitchFamily="34" charset="-122"/>
                <a:cs typeface="Calibri" pitchFamily="34" charset="-120"/>
              </a:rPr>
              <a:t>By trading only 5 pairs, we know their behavior intimately — the support zones that hold, the resistance that rejects, the time-of-day patterns.</a:t>
            </a:r>
            <a:endParaRPr lang="en-US" sz="1050" dirty="0"/>
          </a:p>
          <a:p>
            <a:pPr algn="l" indent="0" marL="0">
              <a:lnSpc>
                <a:spcPts val="1600"/>
              </a:lnSpc>
              <a:buNone/>
            </a:pPr>
            <a:endParaRPr lang="en-US" sz="1050" dirty="0"/>
          </a:p>
          <a:p>
            <a:pPr algn="l" indent="0" marL="0">
              <a:lnSpc>
                <a:spcPts val="1600"/>
              </a:lnSpc>
              <a:buNone/>
            </a:pPr>
            <a:r>
              <a:rPr lang="en-US" sz="1050" dirty="0">
                <a:solidFill>
                  <a:srgbClr val="C8C8C8"/>
                </a:solidFill>
                <a:latin typeface="Calibri" pitchFamily="34" charset="0"/>
                <a:ea typeface="Calibri" pitchFamily="34" charset="-122"/>
                <a:cs typeface="Calibri" pitchFamily="34" charset="-120"/>
              </a:rPr>
              <a:t>We don't need to scan 200 charts. We watch 5. We know them like old friends.</a:t>
            </a:r>
            <a:endParaRPr lang="en-US" sz="1050" dirty="0"/>
          </a:p>
        </p:txBody>
      </p:sp>
      <p:sp>
        <p:nvSpPr>
          <p:cNvPr id="30" name="Text 27"/>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02</a:t>
            </a:r>
            <a:endParaRPr lang="en-US" sz="3600" dirty="0"/>
          </a:p>
        </p:txBody>
      </p:sp>
      <p:sp>
        <p:nvSpPr>
          <p:cNvPr id="3" name="Text 1"/>
          <p:cNvSpPr/>
          <p:nvPr/>
        </p:nvSpPr>
        <p:spPr>
          <a:xfrm>
            <a:off x="548640" y="685800"/>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Confluence Scoring System</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Text 3"/>
          <p:cNvSpPr/>
          <p:nvPr/>
        </p:nvSpPr>
        <p:spPr>
          <a:xfrm>
            <a:off x="548640" y="1325880"/>
            <a:ext cx="7772400" cy="457200"/>
          </a:xfrm>
          <a:prstGeom prst="rect">
            <a:avLst/>
          </a:prstGeom>
          <a:noFill/>
          <a:ln/>
        </p:spPr>
        <p:txBody>
          <a:bodyPr wrap="square" rtlCol="0" anchor="ctr"/>
          <a:lstStyle/>
          <a:p>
            <a:pPr indent="0" marL="0">
              <a:lnSpc>
                <a:spcPts val="1900"/>
              </a:lnSpc>
              <a:buNone/>
            </a:pPr>
            <a:r>
              <a:rPr lang="en-US" sz="1300" dirty="0">
                <a:solidFill>
                  <a:srgbClr val="888888"/>
                </a:solidFill>
                <a:latin typeface="Calibri" pitchFamily="34" charset="0"/>
                <a:ea typeface="Calibri" pitchFamily="34" charset="-122"/>
                <a:cs typeface="Calibri" pitchFamily="34" charset="-120"/>
              </a:rPr>
              <a:t>We don't trade on one signal. Every trade must pass a multi-factor confluence test scored 0–100. Here are the 3 core pillars:</a:t>
            </a:r>
            <a:endParaRPr lang="en-US" sz="1300" dirty="0"/>
          </a:p>
        </p:txBody>
      </p:sp>
      <p:sp>
        <p:nvSpPr>
          <p:cNvPr id="6" name="Shape 4"/>
          <p:cNvSpPr/>
          <p:nvPr/>
        </p:nvSpPr>
        <p:spPr>
          <a:xfrm>
            <a:off x="548640" y="1965960"/>
            <a:ext cx="2560320" cy="274320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7" name="Shape 5"/>
          <p:cNvSpPr/>
          <p:nvPr/>
        </p:nvSpPr>
        <p:spPr>
          <a:xfrm>
            <a:off x="548640" y="1965960"/>
            <a:ext cx="2560320" cy="27432"/>
          </a:xfrm>
          <a:prstGeom prst="rect">
            <a:avLst/>
          </a:prstGeom>
          <a:solidFill>
            <a:srgbClr val="00E5A0">
              <a:alpha val="60000"/>
            </a:srgbClr>
          </a:solidFill>
          <a:ln/>
        </p:spPr>
      </p:sp>
      <p:pic>
        <p:nvPicPr>
          <p:cNvPr id="8" name="Image 0" descr="preencoded.png">    </p:cNvPr>
          <p:cNvPicPr>
            <a:picLocks noChangeAspect="1"/>
          </p:cNvPicPr>
          <p:nvPr/>
        </p:nvPicPr>
        <p:blipFill>
          <a:blip r:embed="rId1"/>
          <a:stretch>
            <a:fillRect/>
          </a:stretch>
        </p:blipFill>
        <p:spPr>
          <a:xfrm>
            <a:off x="731520" y="2148840"/>
            <a:ext cx="320040" cy="320040"/>
          </a:xfrm>
          <a:prstGeom prst="rect">
            <a:avLst/>
          </a:prstGeom>
        </p:spPr>
      </p:pic>
      <p:sp>
        <p:nvSpPr>
          <p:cNvPr id="9" name="Text 6"/>
          <p:cNvSpPr/>
          <p:nvPr/>
        </p:nvSpPr>
        <p:spPr>
          <a:xfrm>
            <a:off x="1143000" y="214884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S/R Proximity</a:t>
            </a:r>
            <a:endParaRPr lang="en-US" sz="1400" dirty="0"/>
          </a:p>
        </p:txBody>
      </p:sp>
      <p:sp>
        <p:nvSpPr>
          <p:cNvPr id="10" name="Text 7"/>
          <p:cNvSpPr/>
          <p:nvPr/>
        </p:nvSpPr>
        <p:spPr>
          <a:xfrm>
            <a:off x="731520" y="2560320"/>
            <a:ext cx="731520" cy="228600"/>
          </a:xfrm>
          <a:prstGeom prst="rect">
            <a:avLst/>
          </a:prstGeom>
          <a:noFill/>
          <a:ln/>
        </p:spPr>
        <p:txBody>
          <a:bodyPr wrap="square" lIns="0" tIns="0" rIns="0" bIns="0" rtlCol="0" anchor="ctr"/>
          <a:lstStyle/>
          <a:p>
            <a:pPr indent="0" marL="0">
              <a:buNone/>
            </a:pPr>
            <a:r>
              <a:rPr lang="en-US" sz="900" dirty="0">
                <a:solidFill>
                  <a:srgbClr val="00E5A0"/>
                </a:solidFill>
                <a:latin typeface="Courier New" pitchFamily="34" charset="0"/>
                <a:ea typeface="Courier New" pitchFamily="34" charset="-122"/>
                <a:cs typeface="Courier New" pitchFamily="34" charset="-120"/>
              </a:rPr>
              <a:t>35 pts</a:t>
            </a:r>
            <a:endParaRPr lang="en-US" sz="900" dirty="0"/>
          </a:p>
        </p:txBody>
      </p:sp>
      <p:sp>
        <p:nvSpPr>
          <p:cNvPr id="11" name="Text 8"/>
          <p:cNvSpPr/>
          <p:nvPr/>
        </p:nvSpPr>
        <p:spPr>
          <a:xfrm>
            <a:off x="731520" y="2880360"/>
            <a:ext cx="2194560" cy="1645920"/>
          </a:xfrm>
          <a:prstGeom prst="rect">
            <a:avLst/>
          </a:prstGeom>
          <a:noFill/>
          <a:ln/>
        </p:spPr>
        <p:txBody>
          <a:bodyPr wrap="square" rtlCol="0" anchor="ctr"/>
          <a:lstStyle/>
          <a:p>
            <a:pPr indent="0" marL="0">
              <a:lnSpc>
                <a:spcPts val="1500"/>
              </a:lnSpc>
              <a:buNone/>
            </a:pPr>
            <a:r>
              <a:rPr lang="en-US" sz="1000" dirty="0">
                <a:solidFill>
                  <a:srgbClr val="888888"/>
                </a:solidFill>
                <a:latin typeface="Calibri" pitchFamily="34" charset="0"/>
                <a:ea typeface="Calibri" pitchFamily="34" charset="-122"/>
                <a:cs typeface="Calibri" pitchFamily="34" charset="-120"/>
              </a:rPr>
              <a:t>How close is price to a proven support or resistance zone? Zones with 7+ touches score highest. We only enter AT the zone — never in no-man's land.</a:t>
            </a:r>
            <a:endParaRPr lang="en-US" sz="1000" dirty="0"/>
          </a:p>
        </p:txBody>
      </p:sp>
      <p:sp>
        <p:nvSpPr>
          <p:cNvPr id="12" name="Shape 9"/>
          <p:cNvSpPr/>
          <p:nvPr/>
        </p:nvSpPr>
        <p:spPr>
          <a:xfrm>
            <a:off x="3383280" y="1965960"/>
            <a:ext cx="2560320" cy="274320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13" name="Shape 10"/>
          <p:cNvSpPr/>
          <p:nvPr/>
        </p:nvSpPr>
        <p:spPr>
          <a:xfrm>
            <a:off x="3383280" y="1965960"/>
            <a:ext cx="2560320" cy="27432"/>
          </a:xfrm>
          <a:prstGeom prst="rect">
            <a:avLst/>
          </a:prstGeom>
          <a:solidFill>
            <a:srgbClr val="00E5A0">
              <a:alpha val="60000"/>
            </a:srgbClr>
          </a:solidFill>
          <a:ln/>
        </p:spPr>
      </p:sp>
      <p:pic>
        <p:nvPicPr>
          <p:cNvPr id="14" name="Image 1" descr="preencoded.png">    </p:cNvPr>
          <p:cNvPicPr>
            <a:picLocks noChangeAspect="1"/>
          </p:cNvPicPr>
          <p:nvPr/>
        </p:nvPicPr>
        <p:blipFill>
          <a:blip r:embed="rId2"/>
          <a:stretch>
            <a:fillRect/>
          </a:stretch>
        </p:blipFill>
        <p:spPr>
          <a:xfrm>
            <a:off x="3566160" y="2148840"/>
            <a:ext cx="320040" cy="320040"/>
          </a:xfrm>
          <a:prstGeom prst="rect">
            <a:avLst/>
          </a:prstGeom>
        </p:spPr>
      </p:pic>
      <p:sp>
        <p:nvSpPr>
          <p:cNvPr id="15" name="Text 11"/>
          <p:cNvSpPr/>
          <p:nvPr/>
        </p:nvSpPr>
        <p:spPr>
          <a:xfrm>
            <a:off x="3977640" y="214884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Regime Alignment</a:t>
            </a:r>
            <a:endParaRPr lang="en-US" sz="1400" dirty="0"/>
          </a:p>
        </p:txBody>
      </p:sp>
      <p:sp>
        <p:nvSpPr>
          <p:cNvPr id="16" name="Text 12"/>
          <p:cNvSpPr/>
          <p:nvPr/>
        </p:nvSpPr>
        <p:spPr>
          <a:xfrm>
            <a:off x="3566160" y="2560320"/>
            <a:ext cx="731520" cy="228600"/>
          </a:xfrm>
          <a:prstGeom prst="rect">
            <a:avLst/>
          </a:prstGeom>
          <a:noFill/>
          <a:ln/>
        </p:spPr>
        <p:txBody>
          <a:bodyPr wrap="square" lIns="0" tIns="0" rIns="0" bIns="0" rtlCol="0" anchor="ctr"/>
          <a:lstStyle/>
          <a:p>
            <a:pPr indent="0" marL="0">
              <a:buNone/>
            </a:pPr>
            <a:r>
              <a:rPr lang="en-US" sz="900" dirty="0">
                <a:solidFill>
                  <a:srgbClr val="00E5A0"/>
                </a:solidFill>
                <a:latin typeface="Courier New" pitchFamily="34" charset="0"/>
                <a:ea typeface="Courier New" pitchFamily="34" charset="-122"/>
                <a:cs typeface="Courier New" pitchFamily="34" charset="-120"/>
              </a:rPr>
              <a:t>20 pts</a:t>
            </a:r>
            <a:endParaRPr lang="en-US" sz="900" dirty="0"/>
          </a:p>
        </p:txBody>
      </p:sp>
      <p:sp>
        <p:nvSpPr>
          <p:cNvPr id="17" name="Text 13"/>
          <p:cNvSpPr/>
          <p:nvPr/>
        </p:nvSpPr>
        <p:spPr>
          <a:xfrm>
            <a:off x="3566160" y="2880360"/>
            <a:ext cx="2194560" cy="1645920"/>
          </a:xfrm>
          <a:prstGeom prst="rect">
            <a:avLst/>
          </a:prstGeom>
          <a:noFill/>
          <a:ln/>
        </p:spPr>
        <p:txBody>
          <a:bodyPr wrap="square" rtlCol="0" anchor="ctr"/>
          <a:lstStyle/>
          <a:p>
            <a:pPr indent="0" marL="0">
              <a:lnSpc>
                <a:spcPts val="1500"/>
              </a:lnSpc>
              <a:buNone/>
            </a:pPr>
            <a:r>
              <a:rPr lang="en-US" sz="1000" dirty="0">
                <a:solidFill>
                  <a:srgbClr val="888888"/>
                </a:solidFill>
                <a:latin typeface="Calibri" pitchFamily="34" charset="0"/>
                <a:ea typeface="Calibri" pitchFamily="34" charset="-122"/>
                <a:cs typeface="Calibri" pitchFamily="34" charset="-120"/>
              </a:rPr>
              <a:t>Is the market trending, ranging, or volatile? We detect regime using ATR, ADX, and EMA position. Long signals in uptrends score high. Longs in downtrends get penalized.</a:t>
            </a:r>
            <a:endParaRPr lang="en-US" sz="1000" dirty="0"/>
          </a:p>
        </p:txBody>
      </p:sp>
      <p:sp>
        <p:nvSpPr>
          <p:cNvPr id="18" name="Shape 14"/>
          <p:cNvSpPr/>
          <p:nvPr/>
        </p:nvSpPr>
        <p:spPr>
          <a:xfrm>
            <a:off x="6217920" y="1965960"/>
            <a:ext cx="2560320" cy="274320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19" name="Shape 15"/>
          <p:cNvSpPr/>
          <p:nvPr/>
        </p:nvSpPr>
        <p:spPr>
          <a:xfrm>
            <a:off x="6217920" y="1965960"/>
            <a:ext cx="2560320" cy="27432"/>
          </a:xfrm>
          <a:prstGeom prst="rect">
            <a:avLst/>
          </a:prstGeom>
          <a:solidFill>
            <a:srgbClr val="00E5A0">
              <a:alpha val="60000"/>
            </a:srgbClr>
          </a:solidFill>
          <a:ln/>
        </p:spPr>
      </p:sp>
      <p:pic>
        <p:nvPicPr>
          <p:cNvPr id="20" name="Image 2" descr="preencoded.png">    </p:cNvPr>
          <p:cNvPicPr>
            <a:picLocks noChangeAspect="1"/>
          </p:cNvPicPr>
          <p:nvPr/>
        </p:nvPicPr>
        <p:blipFill>
          <a:blip r:embed="rId3"/>
          <a:stretch>
            <a:fillRect/>
          </a:stretch>
        </p:blipFill>
        <p:spPr>
          <a:xfrm>
            <a:off x="6400800" y="2148840"/>
            <a:ext cx="320040" cy="320040"/>
          </a:xfrm>
          <a:prstGeom prst="rect">
            <a:avLst/>
          </a:prstGeom>
        </p:spPr>
      </p:pic>
      <p:sp>
        <p:nvSpPr>
          <p:cNvPr id="21" name="Text 16"/>
          <p:cNvSpPr/>
          <p:nvPr/>
        </p:nvSpPr>
        <p:spPr>
          <a:xfrm>
            <a:off x="6812280" y="2148840"/>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RSI + Volume</a:t>
            </a:r>
            <a:endParaRPr lang="en-US" sz="1400" dirty="0"/>
          </a:p>
        </p:txBody>
      </p:sp>
      <p:sp>
        <p:nvSpPr>
          <p:cNvPr id="22" name="Text 17"/>
          <p:cNvSpPr/>
          <p:nvPr/>
        </p:nvSpPr>
        <p:spPr>
          <a:xfrm>
            <a:off x="6400800" y="2560320"/>
            <a:ext cx="731520" cy="228600"/>
          </a:xfrm>
          <a:prstGeom prst="rect">
            <a:avLst/>
          </a:prstGeom>
          <a:noFill/>
          <a:ln/>
        </p:spPr>
        <p:txBody>
          <a:bodyPr wrap="square" lIns="0" tIns="0" rIns="0" bIns="0" rtlCol="0" anchor="ctr"/>
          <a:lstStyle/>
          <a:p>
            <a:pPr indent="0" marL="0">
              <a:buNone/>
            </a:pPr>
            <a:r>
              <a:rPr lang="en-US" sz="900" dirty="0">
                <a:solidFill>
                  <a:srgbClr val="00E5A0"/>
                </a:solidFill>
                <a:latin typeface="Courier New" pitchFamily="34" charset="0"/>
                <a:ea typeface="Courier New" pitchFamily="34" charset="-122"/>
                <a:cs typeface="Courier New" pitchFamily="34" charset="-120"/>
              </a:rPr>
              <a:t>25 pts</a:t>
            </a:r>
            <a:endParaRPr lang="en-US" sz="900" dirty="0"/>
          </a:p>
        </p:txBody>
      </p:sp>
      <p:sp>
        <p:nvSpPr>
          <p:cNvPr id="23" name="Text 18"/>
          <p:cNvSpPr/>
          <p:nvPr/>
        </p:nvSpPr>
        <p:spPr>
          <a:xfrm>
            <a:off x="6400800" y="2880360"/>
            <a:ext cx="2194560" cy="1645920"/>
          </a:xfrm>
          <a:prstGeom prst="rect">
            <a:avLst/>
          </a:prstGeom>
          <a:noFill/>
          <a:ln/>
        </p:spPr>
        <p:txBody>
          <a:bodyPr wrap="square" rtlCol="0" anchor="ctr"/>
          <a:lstStyle/>
          <a:p>
            <a:pPr indent="0" marL="0">
              <a:lnSpc>
                <a:spcPts val="1500"/>
              </a:lnSpc>
              <a:buNone/>
            </a:pPr>
            <a:r>
              <a:rPr lang="en-US" sz="1000" dirty="0">
                <a:solidFill>
                  <a:srgbClr val="888888"/>
                </a:solidFill>
                <a:latin typeface="Calibri" pitchFamily="34" charset="0"/>
                <a:ea typeface="Calibri" pitchFamily="34" charset="-122"/>
                <a:cs typeface="Calibri" pitchFamily="34" charset="-120"/>
              </a:rPr>
              <a:t>RSI below 30 on a long setup = maximum points. Volume 1.5x above average on a breakout = confirmation. Both must align with direction or the score drops.</a:t>
            </a:r>
            <a:endParaRPr lang="en-US" sz="1000" dirty="0"/>
          </a:p>
        </p:txBody>
      </p:sp>
      <p:sp>
        <p:nvSpPr>
          <p:cNvPr id="24" name="Text 19"/>
          <p:cNvSpPr/>
          <p:nvPr/>
        </p:nvSpPr>
        <p:spPr>
          <a:xfrm>
            <a:off x="548640" y="4754880"/>
            <a:ext cx="7772400" cy="320040"/>
          </a:xfrm>
          <a:prstGeom prst="rect">
            <a:avLst/>
          </a:prstGeom>
          <a:noFill/>
          <a:ln/>
        </p:spPr>
        <p:txBody>
          <a:bodyPr wrap="square" rtlCol="0" anchor="ctr"/>
          <a:lstStyle/>
          <a:p>
            <a:pPr indent="0" marL="0">
              <a:buNone/>
            </a:pPr>
            <a:r>
              <a:rPr lang="en-US" sz="1000" i="1" dirty="0">
                <a:solidFill>
                  <a:srgbClr val="444444"/>
                </a:solidFill>
                <a:latin typeface="Calibri" pitchFamily="34" charset="0"/>
                <a:ea typeface="Calibri" pitchFamily="34" charset="-122"/>
                <a:cs typeface="Calibri" pitchFamily="34" charset="-120"/>
              </a:rPr>
              <a:t>Remaining 20 points: trend alignment (EMA position) + multi-timeframe agreement. Full system scores every setup before we risk a dollar.</a:t>
            </a:r>
            <a:endParaRPr lang="en-US" sz="1000" dirty="0"/>
          </a:p>
        </p:txBody>
      </p:sp>
      <p:sp>
        <p:nvSpPr>
          <p:cNvPr id="25" name="Text 20"/>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03</a:t>
            </a:r>
            <a:endParaRPr lang="en-US" sz="3600" dirty="0"/>
          </a:p>
        </p:txBody>
      </p:sp>
      <p:sp>
        <p:nvSpPr>
          <p:cNvPr id="3" name="Text 1"/>
          <p:cNvSpPr/>
          <p:nvPr/>
        </p:nvSpPr>
        <p:spPr>
          <a:xfrm>
            <a:off x="548640" y="685800"/>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How To Read S/R Like Institutions</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Text 3"/>
          <p:cNvSpPr/>
          <p:nvPr/>
        </p:nvSpPr>
        <p:spPr>
          <a:xfrm>
            <a:off x="548640" y="1325880"/>
            <a:ext cx="7772400" cy="457200"/>
          </a:xfrm>
          <a:prstGeom prst="rect">
            <a:avLst/>
          </a:prstGeom>
          <a:noFill/>
          <a:ln/>
        </p:spPr>
        <p:txBody>
          <a:bodyPr wrap="square" rtlCol="0" anchor="ctr"/>
          <a:lstStyle/>
          <a:p>
            <a:pPr indent="0" marL="0">
              <a:lnSpc>
                <a:spcPts val="1900"/>
              </a:lnSpc>
              <a:buNone/>
            </a:pPr>
            <a:r>
              <a:rPr lang="en-US" sz="1300" dirty="0">
                <a:solidFill>
                  <a:srgbClr val="888888"/>
                </a:solidFill>
                <a:latin typeface="Calibri" pitchFamily="34" charset="0"/>
                <a:ea typeface="Calibri" pitchFamily="34" charset="-122"/>
                <a:cs typeface="Calibri" pitchFamily="34" charset="-120"/>
              </a:rPr>
              <a:t>Forget drawing lines. Institutions don't care about your trendlines. They care about zones — areas where enough orders sit to move price.</a:t>
            </a:r>
            <a:endParaRPr lang="en-US" sz="1300" dirty="0"/>
          </a:p>
        </p:txBody>
      </p:sp>
      <p:sp>
        <p:nvSpPr>
          <p:cNvPr id="6" name="Shape 4"/>
          <p:cNvSpPr/>
          <p:nvPr/>
        </p:nvSpPr>
        <p:spPr>
          <a:xfrm>
            <a:off x="548640" y="1920240"/>
            <a:ext cx="8046720" cy="685800"/>
          </a:xfrm>
          <a:prstGeom prst="rect">
            <a:avLst/>
          </a:prstGeom>
          <a:solidFill>
            <a:srgbClr val="0D0D14"/>
          </a:solidFill>
          <a:ln w="2540">
            <a:solidFill>
              <a:srgbClr val="444444"/>
            </a:solidFill>
            <a:prstDash val="solid"/>
          </a:ln>
        </p:spPr>
      </p:sp>
      <p:sp>
        <p:nvSpPr>
          <p:cNvPr id="7" name="Shape 5"/>
          <p:cNvSpPr/>
          <p:nvPr/>
        </p:nvSpPr>
        <p:spPr>
          <a:xfrm>
            <a:off x="548640" y="1920240"/>
            <a:ext cx="502920" cy="685800"/>
          </a:xfrm>
          <a:prstGeom prst="rect">
            <a:avLst/>
          </a:prstGeom>
          <a:solidFill>
            <a:srgbClr val="00E5A0">
              <a:alpha val="15000"/>
            </a:srgbClr>
          </a:solidFill>
          <a:ln/>
        </p:spPr>
      </p:sp>
      <p:sp>
        <p:nvSpPr>
          <p:cNvPr id="8" name="Text 6"/>
          <p:cNvSpPr/>
          <p:nvPr/>
        </p:nvSpPr>
        <p:spPr>
          <a:xfrm>
            <a:off x="548640" y="1920240"/>
            <a:ext cx="502920" cy="685800"/>
          </a:xfrm>
          <a:prstGeom prst="rect">
            <a:avLst/>
          </a:prstGeom>
          <a:noFill/>
          <a:ln/>
        </p:spPr>
        <p:txBody>
          <a:bodyPr wrap="square" lIns="0" tIns="0" rIns="0" bIns="0" rtlCol="0" anchor="ctr"/>
          <a:lstStyle/>
          <a:p>
            <a:pPr algn="ctr" indent="0" marL="0">
              <a:buNone/>
            </a:pPr>
            <a:r>
              <a:rPr lang="en-US" sz="1800" b="1" dirty="0">
                <a:solidFill>
                  <a:srgbClr val="00E5A0"/>
                </a:solidFill>
                <a:latin typeface="Courier New" pitchFamily="34" charset="0"/>
                <a:ea typeface="Courier New" pitchFamily="34" charset="-122"/>
                <a:cs typeface="Courier New" pitchFamily="34" charset="-120"/>
              </a:rPr>
              <a:t>1</a:t>
            </a:r>
            <a:endParaRPr lang="en-US" sz="1800" dirty="0"/>
          </a:p>
        </p:txBody>
      </p:sp>
      <p:sp>
        <p:nvSpPr>
          <p:cNvPr id="9" name="Text 7"/>
          <p:cNvSpPr/>
          <p:nvPr/>
        </p:nvSpPr>
        <p:spPr>
          <a:xfrm>
            <a:off x="1188720" y="196596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Find Pivot Clusters</a:t>
            </a:r>
            <a:endParaRPr lang="en-US" sz="1300" dirty="0"/>
          </a:p>
        </p:txBody>
      </p:sp>
      <p:sp>
        <p:nvSpPr>
          <p:cNvPr id="10" name="Text 8"/>
          <p:cNvSpPr/>
          <p:nvPr/>
        </p:nvSpPr>
        <p:spPr>
          <a:xfrm>
            <a:off x="1188720" y="2212848"/>
            <a:ext cx="7132320" cy="365760"/>
          </a:xfrm>
          <a:prstGeom prst="rect">
            <a:avLst/>
          </a:prstGeom>
          <a:noFill/>
          <a:ln/>
        </p:spPr>
        <p:txBody>
          <a:bodyPr wrap="square" lIns="0" tIns="0" rIns="0" bIns="0" rtlCol="0" anchor="ctr"/>
          <a:lstStyle/>
          <a:p>
            <a:pPr indent="0" marL="0">
              <a:lnSpc>
                <a:spcPts val="1400"/>
              </a:lnSpc>
              <a:buNone/>
            </a:pPr>
            <a:r>
              <a:rPr lang="en-US" sz="950" dirty="0">
                <a:solidFill>
                  <a:srgbClr val="888888"/>
                </a:solidFill>
                <a:latin typeface="Calibri" pitchFamily="34" charset="0"/>
                <a:ea typeface="Calibri" pitchFamily="34" charset="-122"/>
                <a:cs typeface="Calibri" pitchFamily="34" charset="-120"/>
              </a:rPr>
              <a:t>We detect pivot highs and lows with a 10-bar lookback. Then we cluster pivots that fall within the same price zone. More pivots in a zone = stronger level. We need at least 3 touches to consider it valid.</a:t>
            </a:r>
            <a:endParaRPr lang="en-US" sz="950" dirty="0"/>
          </a:p>
        </p:txBody>
      </p:sp>
      <p:sp>
        <p:nvSpPr>
          <p:cNvPr id="11" name="Shape 9"/>
          <p:cNvSpPr/>
          <p:nvPr/>
        </p:nvSpPr>
        <p:spPr>
          <a:xfrm>
            <a:off x="548640" y="2697480"/>
            <a:ext cx="8046720" cy="685800"/>
          </a:xfrm>
          <a:prstGeom prst="rect">
            <a:avLst/>
          </a:prstGeom>
          <a:solidFill>
            <a:srgbClr val="0D0D14"/>
          </a:solidFill>
          <a:ln w="2540">
            <a:solidFill>
              <a:srgbClr val="444444"/>
            </a:solidFill>
            <a:prstDash val="solid"/>
          </a:ln>
        </p:spPr>
      </p:sp>
      <p:sp>
        <p:nvSpPr>
          <p:cNvPr id="12" name="Shape 10"/>
          <p:cNvSpPr/>
          <p:nvPr/>
        </p:nvSpPr>
        <p:spPr>
          <a:xfrm>
            <a:off x="548640" y="2697480"/>
            <a:ext cx="502920" cy="685800"/>
          </a:xfrm>
          <a:prstGeom prst="rect">
            <a:avLst/>
          </a:prstGeom>
          <a:solidFill>
            <a:srgbClr val="00E5A0">
              <a:alpha val="15000"/>
            </a:srgbClr>
          </a:solidFill>
          <a:ln/>
        </p:spPr>
      </p:sp>
      <p:sp>
        <p:nvSpPr>
          <p:cNvPr id="13" name="Text 11"/>
          <p:cNvSpPr/>
          <p:nvPr/>
        </p:nvSpPr>
        <p:spPr>
          <a:xfrm>
            <a:off x="548640" y="2697480"/>
            <a:ext cx="502920" cy="685800"/>
          </a:xfrm>
          <a:prstGeom prst="rect">
            <a:avLst/>
          </a:prstGeom>
          <a:noFill/>
          <a:ln/>
        </p:spPr>
        <p:txBody>
          <a:bodyPr wrap="square" lIns="0" tIns="0" rIns="0" bIns="0" rtlCol="0" anchor="ctr"/>
          <a:lstStyle/>
          <a:p>
            <a:pPr algn="ctr" indent="0" marL="0">
              <a:buNone/>
            </a:pPr>
            <a:r>
              <a:rPr lang="en-US" sz="1800" b="1" dirty="0">
                <a:solidFill>
                  <a:srgbClr val="00E5A0"/>
                </a:solidFill>
                <a:latin typeface="Courier New" pitchFamily="34" charset="0"/>
                <a:ea typeface="Courier New" pitchFamily="34" charset="-122"/>
                <a:cs typeface="Courier New" pitchFamily="34" charset="-120"/>
              </a:rPr>
              <a:t>2</a:t>
            </a:r>
            <a:endParaRPr lang="en-US" sz="1800" dirty="0"/>
          </a:p>
        </p:txBody>
      </p:sp>
      <p:sp>
        <p:nvSpPr>
          <p:cNvPr id="14" name="Text 12"/>
          <p:cNvSpPr/>
          <p:nvPr/>
        </p:nvSpPr>
        <p:spPr>
          <a:xfrm>
            <a:off x="1188720" y="274320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Classify: Support or Resistance</a:t>
            </a:r>
            <a:endParaRPr lang="en-US" sz="1300" dirty="0"/>
          </a:p>
        </p:txBody>
      </p:sp>
      <p:sp>
        <p:nvSpPr>
          <p:cNvPr id="15" name="Text 13"/>
          <p:cNvSpPr/>
          <p:nvPr/>
        </p:nvSpPr>
        <p:spPr>
          <a:xfrm>
            <a:off x="1188720" y="2990088"/>
            <a:ext cx="7132320" cy="365760"/>
          </a:xfrm>
          <a:prstGeom prst="rect">
            <a:avLst/>
          </a:prstGeom>
          <a:noFill/>
          <a:ln/>
        </p:spPr>
        <p:txBody>
          <a:bodyPr wrap="square" lIns="0" tIns="0" rIns="0" bIns="0" rtlCol="0" anchor="ctr"/>
          <a:lstStyle/>
          <a:p>
            <a:pPr indent="0" marL="0">
              <a:lnSpc>
                <a:spcPts val="1400"/>
              </a:lnSpc>
              <a:buNone/>
            </a:pPr>
            <a:r>
              <a:rPr lang="en-US" sz="950" dirty="0">
                <a:solidFill>
                  <a:srgbClr val="888888"/>
                </a:solidFill>
                <a:latin typeface="Calibri" pitchFamily="34" charset="0"/>
                <a:ea typeface="Calibri" pitchFamily="34" charset="-122"/>
                <a:cs typeface="Calibri" pitchFamily="34" charset="-120"/>
              </a:rPr>
              <a:t>If the zone is below current price, it's support (buyers are there). Above price = resistance (sellers). The same zone can flip — resistance that breaks becomes support. Watch for these role reversals.</a:t>
            </a:r>
            <a:endParaRPr lang="en-US" sz="950" dirty="0"/>
          </a:p>
        </p:txBody>
      </p:sp>
      <p:sp>
        <p:nvSpPr>
          <p:cNvPr id="16" name="Shape 14"/>
          <p:cNvSpPr/>
          <p:nvPr/>
        </p:nvSpPr>
        <p:spPr>
          <a:xfrm>
            <a:off x="548640" y="3474720"/>
            <a:ext cx="8046720" cy="685800"/>
          </a:xfrm>
          <a:prstGeom prst="rect">
            <a:avLst/>
          </a:prstGeom>
          <a:solidFill>
            <a:srgbClr val="0D0D14"/>
          </a:solidFill>
          <a:ln w="2540">
            <a:solidFill>
              <a:srgbClr val="444444"/>
            </a:solidFill>
            <a:prstDash val="solid"/>
          </a:ln>
        </p:spPr>
      </p:sp>
      <p:sp>
        <p:nvSpPr>
          <p:cNvPr id="17" name="Shape 15"/>
          <p:cNvSpPr/>
          <p:nvPr/>
        </p:nvSpPr>
        <p:spPr>
          <a:xfrm>
            <a:off x="548640" y="3474720"/>
            <a:ext cx="502920" cy="685800"/>
          </a:xfrm>
          <a:prstGeom prst="rect">
            <a:avLst/>
          </a:prstGeom>
          <a:solidFill>
            <a:srgbClr val="00E5A0">
              <a:alpha val="15000"/>
            </a:srgbClr>
          </a:solidFill>
          <a:ln/>
        </p:spPr>
      </p:sp>
      <p:sp>
        <p:nvSpPr>
          <p:cNvPr id="18" name="Text 16"/>
          <p:cNvSpPr/>
          <p:nvPr/>
        </p:nvSpPr>
        <p:spPr>
          <a:xfrm>
            <a:off x="548640" y="3474720"/>
            <a:ext cx="502920" cy="685800"/>
          </a:xfrm>
          <a:prstGeom prst="rect">
            <a:avLst/>
          </a:prstGeom>
          <a:noFill/>
          <a:ln/>
        </p:spPr>
        <p:txBody>
          <a:bodyPr wrap="square" lIns="0" tIns="0" rIns="0" bIns="0" rtlCol="0" anchor="ctr"/>
          <a:lstStyle/>
          <a:p>
            <a:pPr algn="ctr" indent="0" marL="0">
              <a:buNone/>
            </a:pPr>
            <a:r>
              <a:rPr lang="en-US" sz="1800" b="1" dirty="0">
                <a:solidFill>
                  <a:srgbClr val="00E5A0"/>
                </a:solidFill>
                <a:latin typeface="Courier New" pitchFamily="34" charset="0"/>
                <a:ea typeface="Courier New" pitchFamily="34" charset="-122"/>
                <a:cs typeface="Courier New" pitchFamily="34" charset="-120"/>
              </a:rPr>
              <a:t>3</a:t>
            </a:r>
            <a:endParaRPr lang="en-US" sz="1800" dirty="0"/>
          </a:p>
        </p:txBody>
      </p:sp>
      <p:sp>
        <p:nvSpPr>
          <p:cNvPr id="19" name="Text 17"/>
          <p:cNvSpPr/>
          <p:nvPr/>
        </p:nvSpPr>
        <p:spPr>
          <a:xfrm>
            <a:off x="1188720" y="352044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Measure Strength</a:t>
            </a:r>
            <a:endParaRPr lang="en-US" sz="1300" dirty="0"/>
          </a:p>
        </p:txBody>
      </p:sp>
      <p:sp>
        <p:nvSpPr>
          <p:cNvPr id="20" name="Text 18"/>
          <p:cNvSpPr/>
          <p:nvPr/>
        </p:nvSpPr>
        <p:spPr>
          <a:xfrm>
            <a:off x="1188720" y="3767328"/>
            <a:ext cx="7132320" cy="365760"/>
          </a:xfrm>
          <a:prstGeom prst="rect">
            <a:avLst/>
          </a:prstGeom>
          <a:noFill/>
          <a:ln/>
        </p:spPr>
        <p:txBody>
          <a:bodyPr wrap="square" lIns="0" tIns="0" rIns="0" bIns="0" rtlCol="0" anchor="ctr"/>
          <a:lstStyle/>
          <a:p>
            <a:pPr indent="0" marL="0">
              <a:lnSpc>
                <a:spcPts val="1400"/>
              </a:lnSpc>
              <a:buNone/>
            </a:pPr>
            <a:r>
              <a:rPr lang="en-US" sz="950" dirty="0">
                <a:solidFill>
                  <a:srgbClr val="888888"/>
                </a:solidFill>
                <a:latin typeface="Calibri" pitchFamily="34" charset="0"/>
                <a:ea typeface="Calibri" pitchFamily="34" charset="-122"/>
                <a:cs typeface="Calibri" pitchFamily="34" charset="-120"/>
              </a:rPr>
              <a:t>Strength = number of times price has touched the zone. A zone with 3 touches is okay. A zone with 10+ touches is institutional. We rank all zones by strength and only trade the strongest.</a:t>
            </a:r>
            <a:endParaRPr lang="en-US" sz="950" dirty="0"/>
          </a:p>
        </p:txBody>
      </p:sp>
      <p:sp>
        <p:nvSpPr>
          <p:cNvPr id="21" name="Shape 19"/>
          <p:cNvSpPr/>
          <p:nvPr/>
        </p:nvSpPr>
        <p:spPr>
          <a:xfrm>
            <a:off x="548640" y="4251960"/>
            <a:ext cx="8046720" cy="685800"/>
          </a:xfrm>
          <a:prstGeom prst="rect">
            <a:avLst/>
          </a:prstGeom>
          <a:solidFill>
            <a:srgbClr val="0D0D14"/>
          </a:solidFill>
          <a:ln w="2540">
            <a:solidFill>
              <a:srgbClr val="444444"/>
            </a:solidFill>
            <a:prstDash val="solid"/>
          </a:ln>
        </p:spPr>
      </p:sp>
      <p:sp>
        <p:nvSpPr>
          <p:cNvPr id="22" name="Shape 20"/>
          <p:cNvSpPr/>
          <p:nvPr/>
        </p:nvSpPr>
        <p:spPr>
          <a:xfrm>
            <a:off x="548640" y="4251960"/>
            <a:ext cx="502920" cy="685800"/>
          </a:xfrm>
          <a:prstGeom prst="rect">
            <a:avLst/>
          </a:prstGeom>
          <a:solidFill>
            <a:srgbClr val="00E5A0">
              <a:alpha val="15000"/>
            </a:srgbClr>
          </a:solidFill>
          <a:ln/>
        </p:spPr>
      </p:sp>
      <p:sp>
        <p:nvSpPr>
          <p:cNvPr id="23" name="Text 21"/>
          <p:cNvSpPr/>
          <p:nvPr/>
        </p:nvSpPr>
        <p:spPr>
          <a:xfrm>
            <a:off x="548640" y="4251960"/>
            <a:ext cx="502920" cy="685800"/>
          </a:xfrm>
          <a:prstGeom prst="rect">
            <a:avLst/>
          </a:prstGeom>
          <a:noFill/>
          <a:ln/>
        </p:spPr>
        <p:txBody>
          <a:bodyPr wrap="square" lIns="0" tIns="0" rIns="0" bIns="0" rtlCol="0" anchor="ctr"/>
          <a:lstStyle/>
          <a:p>
            <a:pPr algn="ctr" indent="0" marL="0">
              <a:buNone/>
            </a:pPr>
            <a:r>
              <a:rPr lang="en-US" sz="1800" b="1" dirty="0">
                <a:solidFill>
                  <a:srgbClr val="00E5A0"/>
                </a:solidFill>
                <a:latin typeface="Courier New" pitchFamily="34" charset="0"/>
                <a:ea typeface="Courier New" pitchFamily="34" charset="-122"/>
                <a:cs typeface="Courier New" pitchFamily="34" charset="-120"/>
              </a:rPr>
              <a:t>4</a:t>
            </a:r>
            <a:endParaRPr lang="en-US" sz="1800" dirty="0"/>
          </a:p>
        </p:txBody>
      </p:sp>
      <p:sp>
        <p:nvSpPr>
          <p:cNvPr id="24" name="Text 22"/>
          <p:cNvSpPr/>
          <p:nvPr/>
        </p:nvSpPr>
        <p:spPr>
          <a:xfrm>
            <a:off x="1188720" y="4297680"/>
            <a:ext cx="27432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Enter at the Zone, Not Before</a:t>
            </a:r>
            <a:endParaRPr lang="en-US" sz="1300" dirty="0"/>
          </a:p>
        </p:txBody>
      </p:sp>
      <p:sp>
        <p:nvSpPr>
          <p:cNvPr id="25" name="Text 23"/>
          <p:cNvSpPr/>
          <p:nvPr/>
        </p:nvSpPr>
        <p:spPr>
          <a:xfrm>
            <a:off x="1188720" y="4544568"/>
            <a:ext cx="7132320" cy="365760"/>
          </a:xfrm>
          <a:prstGeom prst="rect">
            <a:avLst/>
          </a:prstGeom>
          <a:noFill/>
          <a:ln/>
        </p:spPr>
        <p:txBody>
          <a:bodyPr wrap="square" lIns="0" tIns="0" rIns="0" bIns="0" rtlCol="0" anchor="ctr"/>
          <a:lstStyle/>
          <a:p>
            <a:pPr indent="0" marL="0">
              <a:lnSpc>
                <a:spcPts val="1400"/>
              </a:lnSpc>
              <a:buNone/>
            </a:pPr>
            <a:r>
              <a:rPr lang="en-US" sz="950" dirty="0">
                <a:solidFill>
                  <a:srgbClr val="888888"/>
                </a:solidFill>
                <a:latin typeface="Calibri" pitchFamily="34" charset="0"/>
                <a:ea typeface="Calibri" pitchFamily="34" charset="-122"/>
                <a:cs typeface="Calibri" pitchFamily="34" charset="-120"/>
              </a:rPr>
              <a:t>The #1 mistake: entering BETWEEN zones. If support is at $95K and price is at $97K, you wait. Enter when price reaches the zone — not when you think it might go there.</a:t>
            </a:r>
            <a:endParaRPr lang="en-US" sz="950" dirty="0"/>
          </a:p>
        </p:txBody>
      </p:sp>
      <p:sp>
        <p:nvSpPr>
          <p:cNvPr id="26" name="Text 24"/>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04</a:t>
            </a:r>
            <a:endParaRPr lang="en-US" sz="3600" dirty="0"/>
          </a:p>
        </p:txBody>
      </p:sp>
      <p:sp>
        <p:nvSpPr>
          <p:cNvPr id="3" name="Text 1"/>
          <p:cNvSpPr/>
          <p:nvPr/>
        </p:nvSpPr>
        <p:spPr>
          <a:xfrm>
            <a:off x="548640" y="685800"/>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Trade Walkthrough: The Win</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Shape 3"/>
          <p:cNvSpPr/>
          <p:nvPr/>
        </p:nvSpPr>
        <p:spPr>
          <a:xfrm>
            <a:off x="548640" y="1417320"/>
            <a:ext cx="4114800" cy="3291840"/>
          </a:xfrm>
          <a:prstGeom prst="rect">
            <a:avLst/>
          </a:prstGeom>
          <a:solidFill>
            <a:srgbClr val="0D0D14"/>
          </a:solidFill>
          <a:ln w="6350">
            <a:solidFill>
              <a:srgbClr val="00E5A0"/>
            </a:solidFill>
            <a:prstDash val="solid"/>
          </a:ln>
          <a:effectLst>
            <a:outerShdw sx="100000" sy="100000" kx="0" ky="0" algn="bl" rotWithShape="0" blurRad="101600" dist="25400" dir="8100000">
              <a:srgbClr val="000000">
                <a:alpha val="30000"/>
              </a:srgbClr>
            </a:outerShdw>
          </a:effectLst>
        </p:spPr>
      </p:sp>
      <p:sp>
        <p:nvSpPr>
          <p:cNvPr id="6" name="Text 4"/>
          <p:cNvSpPr/>
          <p:nvPr/>
        </p:nvSpPr>
        <p:spPr>
          <a:xfrm>
            <a:off x="731520" y="1554480"/>
            <a:ext cx="2286000" cy="274320"/>
          </a:xfrm>
          <a:prstGeom prst="rect">
            <a:avLst/>
          </a:prstGeom>
          <a:noFill/>
          <a:ln/>
        </p:spPr>
        <p:txBody>
          <a:bodyPr wrap="square" lIns="0" tIns="0" rIns="0" bIns="0" rtlCol="0" anchor="ctr"/>
          <a:lstStyle/>
          <a:p>
            <a:pPr indent="0" marL="0">
              <a:buNone/>
            </a:pPr>
            <a:r>
              <a:rPr lang="en-US" sz="1200" dirty="0">
                <a:solidFill>
                  <a:srgbClr val="00E5A0"/>
                </a:solidFill>
                <a:latin typeface="Courier New" pitchFamily="34" charset="0"/>
                <a:ea typeface="Courier New" pitchFamily="34" charset="-122"/>
                <a:cs typeface="Courier New" pitchFamily="34" charset="-120"/>
              </a:rPr>
              <a:t>BTC/USDT — 4H Chart</a:t>
            </a:r>
            <a:endParaRPr lang="en-US" sz="1200" dirty="0"/>
          </a:p>
        </p:txBody>
      </p:sp>
      <p:sp>
        <p:nvSpPr>
          <p:cNvPr id="7" name="Text 5"/>
          <p:cNvSpPr/>
          <p:nvPr/>
        </p:nvSpPr>
        <p:spPr>
          <a:xfrm>
            <a:off x="3017520" y="1554480"/>
            <a:ext cx="1463040" cy="274320"/>
          </a:xfrm>
          <a:prstGeom prst="rect">
            <a:avLst/>
          </a:prstGeom>
          <a:noFill/>
          <a:ln/>
        </p:spPr>
        <p:txBody>
          <a:bodyPr wrap="square" lIns="0" tIns="0" rIns="0" bIns="0" rtlCol="0" anchor="ctr"/>
          <a:lstStyle/>
          <a:p>
            <a:pPr algn="r" indent="0" marL="0">
              <a:buNone/>
            </a:pPr>
            <a:r>
              <a:rPr lang="en-US" sz="900" dirty="0">
                <a:solidFill>
                  <a:srgbClr val="444444"/>
                </a:solidFill>
                <a:latin typeface="Courier New" pitchFamily="34" charset="0"/>
                <a:ea typeface="Courier New" pitchFamily="34" charset="-122"/>
                <a:cs typeface="Courier New" pitchFamily="34" charset="-120"/>
              </a:rPr>
              <a:t>February 12, 2026</a:t>
            </a:r>
            <a:endParaRPr lang="en-US" sz="900" dirty="0"/>
          </a:p>
        </p:txBody>
      </p:sp>
      <p:sp>
        <p:nvSpPr>
          <p:cNvPr id="8" name="Shape 6"/>
          <p:cNvSpPr/>
          <p:nvPr/>
        </p:nvSpPr>
        <p:spPr>
          <a:xfrm>
            <a:off x="731520" y="1965960"/>
            <a:ext cx="3749040" cy="292608"/>
          </a:xfrm>
          <a:prstGeom prst="rect">
            <a:avLst/>
          </a:prstGeom>
          <a:solidFill>
            <a:srgbClr val="0A0A12"/>
          </a:solidFill>
          <a:ln/>
        </p:spPr>
      </p:sp>
      <p:sp>
        <p:nvSpPr>
          <p:cNvPr id="9" name="Text 7"/>
          <p:cNvSpPr/>
          <p:nvPr/>
        </p:nvSpPr>
        <p:spPr>
          <a:xfrm>
            <a:off x="822960" y="1965960"/>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Direction</a:t>
            </a:r>
            <a:endParaRPr lang="en-US" sz="1000" dirty="0"/>
          </a:p>
        </p:txBody>
      </p:sp>
      <p:sp>
        <p:nvSpPr>
          <p:cNvPr id="10" name="Text 8"/>
          <p:cNvSpPr/>
          <p:nvPr/>
        </p:nvSpPr>
        <p:spPr>
          <a:xfrm>
            <a:off x="2743200" y="1965960"/>
            <a:ext cx="1645920" cy="292608"/>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LONG</a:t>
            </a:r>
            <a:endParaRPr lang="en-US" sz="1000" dirty="0"/>
          </a:p>
        </p:txBody>
      </p:sp>
      <p:sp>
        <p:nvSpPr>
          <p:cNvPr id="11" name="Shape 9"/>
          <p:cNvSpPr/>
          <p:nvPr/>
        </p:nvSpPr>
        <p:spPr>
          <a:xfrm>
            <a:off x="731520" y="2313432"/>
            <a:ext cx="3749040" cy="292608"/>
          </a:xfrm>
          <a:prstGeom prst="rect">
            <a:avLst/>
          </a:prstGeom>
          <a:solidFill>
            <a:srgbClr val="0D0D14"/>
          </a:solidFill>
          <a:ln/>
        </p:spPr>
      </p:sp>
      <p:sp>
        <p:nvSpPr>
          <p:cNvPr id="12" name="Text 10"/>
          <p:cNvSpPr/>
          <p:nvPr/>
        </p:nvSpPr>
        <p:spPr>
          <a:xfrm>
            <a:off x="822960" y="2313432"/>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Entry</a:t>
            </a:r>
            <a:endParaRPr lang="en-US" sz="1000" dirty="0"/>
          </a:p>
        </p:txBody>
      </p:sp>
      <p:sp>
        <p:nvSpPr>
          <p:cNvPr id="13" name="Text 11"/>
          <p:cNvSpPr/>
          <p:nvPr/>
        </p:nvSpPr>
        <p:spPr>
          <a:xfrm>
            <a:off x="2743200" y="2313432"/>
            <a:ext cx="1645920" cy="292608"/>
          </a:xfrm>
          <a:prstGeom prst="rect">
            <a:avLst/>
          </a:prstGeom>
          <a:noFill/>
          <a:ln/>
        </p:spPr>
        <p:txBody>
          <a:bodyPr wrap="square" lIns="0" tIns="0" rIns="0" bIns="0" rtlCol="0" anchor="ctr"/>
          <a:lstStyle/>
          <a:p>
            <a:pPr algn="r" indent="0" marL="0">
              <a:buNone/>
            </a:pPr>
            <a:r>
              <a:rPr lang="en-US" sz="1000" b="1" dirty="0">
                <a:solidFill>
                  <a:srgbClr val="FFFFFF"/>
                </a:solidFill>
                <a:latin typeface="Courier New" pitchFamily="34" charset="0"/>
                <a:ea typeface="Courier New" pitchFamily="34" charset="-122"/>
                <a:cs typeface="Courier New" pitchFamily="34" charset="-120"/>
              </a:rPr>
              <a:t>$96,420</a:t>
            </a:r>
            <a:endParaRPr lang="en-US" sz="1000" dirty="0"/>
          </a:p>
        </p:txBody>
      </p:sp>
      <p:sp>
        <p:nvSpPr>
          <p:cNvPr id="14" name="Shape 12"/>
          <p:cNvSpPr/>
          <p:nvPr/>
        </p:nvSpPr>
        <p:spPr>
          <a:xfrm>
            <a:off x="731520" y="2660904"/>
            <a:ext cx="3749040" cy="292608"/>
          </a:xfrm>
          <a:prstGeom prst="rect">
            <a:avLst/>
          </a:prstGeom>
          <a:solidFill>
            <a:srgbClr val="0A0A12"/>
          </a:solidFill>
          <a:ln/>
        </p:spPr>
      </p:sp>
      <p:sp>
        <p:nvSpPr>
          <p:cNvPr id="15" name="Text 13"/>
          <p:cNvSpPr/>
          <p:nvPr/>
        </p:nvSpPr>
        <p:spPr>
          <a:xfrm>
            <a:off x="822960" y="2660904"/>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Stop Loss</a:t>
            </a:r>
            <a:endParaRPr lang="en-US" sz="1000" dirty="0"/>
          </a:p>
        </p:txBody>
      </p:sp>
      <p:sp>
        <p:nvSpPr>
          <p:cNvPr id="16" name="Text 14"/>
          <p:cNvSpPr/>
          <p:nvPr/>
        </p:nvSpPr>
        <p:spPr>
          <a:xfrm>
            <a:off x="2743200" y="2660904"/>
            <a:ext cx="1645920" cy="292608"/>
          </a:xfrm>
          <a:prstGeom prst="rect">
            <a:avLst/>
          </a:prstGeom>
          <a:noFill/>
          <a:ln/>
        </p:spPr>
        <p:txBody>
          <a:bodyPr wrap="square" lIns="0" tIns="0" rIns="0" bIns="0" rtlCol="0" anchor="ctr"/>
          <a:lstStyle/>
          <a:p>
            <a:pPr algn="r" indent="0" marL="0">
              <a:buNone/>
            </a:pPr>
            <a:r>
              <a:rPr lang="en-US" sz="1000" b="1" dirty="0">
                <a:solidFill>
                  <a:srgbClr val="FF4D4D"/>
                </a:solidFill>
                <a:latin typeface="Courier New" pitchFamily="34" charset="0"/>
                <a:ea typeface="Courier New" pitchFamily="34" charset="-122"/>
                <a:cs typeface="Courier New" pitchFamily="34" charset="-120"/>
              </a:rPr>
              <a:t>$95,180 (-1.29%)</a:t>
            </a:r>
            <a:endParaRPr lang="en-US" sz="1000" dirty="0"/>
          </a:p>
        </p:txBody>
      </p:sp>
      <p:sp>
        <p:nvSpPr>
          <p:cNvPr id="17" name="Shape 15"/>
          <p:cNvSpPr/>
          <p:nvPr/>
        </p:nvSpPr>
        <p:spPr>
          <a:xfrm>
            <a:off x="731520" y="3008376"/>
            <a:ext cx="3749040" cy="292608"/>
          </a:xfrm>
          <a:prstGeom prst="rect">
            <a:avLst/>
          </a:prstGeom>
          <a:solidFill>
            <a:srgbClr val="0D0D14"/>
          </a:solidFill>
          <a:ln/>
        </p:spPr>
      </p:sp>
      <p:sp>
        <p:nvSpPr>
          <p:cNvPr id="18" name="Text 16"/>
          <p:cNvSpPr/>
          <p:nvPr/>
        </p:nvSpPr>
        <p:spPr>
          <a:xfrm>
            <a:off x="822960" y="3008376"/>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Take Profit</a:t>
            </a:r>
            <a:endParaRPr lang="en-US" sz="1000" dirty="0"/>
          </a:p>
        </p:txBody>
      </p:sp>
      <p:sp>
        <p:nvSpPr>
          <p:cNvPr id="19" name="Text 17"/>
          <p:cNvSpPr/>
          <p:nvPr/>
        </p:nvSpPr>
        <p:spPr>
          <a:xfrm>
            <a:off x="2743200" y="3008376"/>
            <a:ext cx="1645920" cy="292608"/>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$99,650 (+3.35%)</a:t>
            </a:r>
            <a:endParaRPr lang="en-US" sz="1000" dirty="0"/>
          </a:p>
        </p:txBody>
      </p:sp>
      <p:sp>
        <p:nvSpPr>
          <p:cNvPr id="20" name="Shape 18"/>
          <p:cNvSpPr/>
          <p:nvPr/>
        </p:nvSpPr>
        <p:spPr>
          <a:xfrm>
            <a:off x="731520" y="3355848"/>
            <a:ext cx="3749040" cy="292608"/>
          </a:xfrm>
          <a:prstGeom prst="rect">
            <a:avLst/>
          </a:prstGeom>
          <a:solidFill>
            <a:srgbClr val="0A0A12"/>
          </a:solidFill>
          <a:ln/>
        </p:spPr>
      </p:sp>
      <p:sp>
        <p:nvSpPr>
          <p:cNvPr id="21" name="Text 19"/>
          <p:cNvSpPr/>
          <p:nvPr/>
        </p:nvSpPr>
        <p:spPr>
          <a:xfrm>
            <a:off x="822960" y="3355848"/>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Confluence Score</a:t>
            </a:r>
            <a:endParaRPr lang="en-US" sz="1000" dirty="0"/>
          </a:p>
        </p:txBody>
      </p:sp>
      <p:sp>
        <p:nvSpPr>
          <p:cNvPr id="22" name="Text 20"/>
          <p:cNvSpPr/>
          <p:nvPr/>
        </p:nvSpPr>
        <p:spPr>
          <a:xfrm>
            <a:off x="2743200" y="3355848"/>
            <a:ext cx="1645920" cy="292608"/>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74 / 100</a:t>
            </a:r>
            <a:endParaRPr lang="en-US" sz="1000" dirty="0"/>
          </a:p>
        </p:txBody>
      </p:sp>
      <p:sp>
        <p:nvSpPr>
          <p:cNvPr id="23" name="Shape 21"/>
          <p:cNvSpPr/>
          <p:nvPr/>
        </p:nvSpPr>
        <p:spPr>
          <a:xfrm>
            <a:off x="731520" y="3703320"/>
            <a:ext cx="3749040" cy="292608"/>
          </a:xfrm>
          <a:prstGeom prst="rect">
            <a:avLst/>
          </a:prstGeom>
          <a:solidFill>
            <a:srgbClr val="0D0D14"/>
          </a:solidFill>
          <a:ln/>
        </p:spPr>
      </p:sp>
      <p:sp>
        <p:nvSpPr>
          <p:cNvPr id="24" name="Text 22"/>
          <p:cNvSpPr/>
          <p:nvPr/>
        </p:nvSpPr>
        <p:spPr>
          <a:xfrm>
            <a:off x="822960" y="3703320"/>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Risk:Reward</a:t>
            </a:r>
            <a:endParaRPr lang="en-US" sz="1000" dirty="0"/>
          </a:p>
        </p:txBody>
      </p:sp>
      <p:sp>
        <p:nvSpPr>
          <p:cNvPr id="25" name="Text 23"/>
          <p:cNvSpPr/>
          <p:nvPr/>
        </p:nvSpPr>
        <p:spPr>
          <a:xfrm>
            <a:off x="2743200" y="3703320"/>
            <a:ext cx="1645920" cy="292608"/>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2.60</a:t>
            </a:r>
            <a:endParaRPr lang="en-US" sz="1000" dirty="0"/>
          </a:p>
        </p:txBody>
      </p:sp>
      <p:sp>
        <p:nvSpPr>
          <p:cNvPr id="26" name="Shape 24"/>
          <p:cNvSpPr/>
          <p:nvPr/>
        </p:nvSpPr>
        <p:spPr>
          <a:xfrm>
            <a:off x="731520" y="4050792"/>
            <a:ext cx="3749040" cy="292608"/>
          </a:xfrm>
          <a:prstGeom prst="rect">
            <a:avLst/>
          </a:prstGeom>
          <a:solidFill>
            <a:srgbClr val="0A0A12"/>
          </a:solidFill>
          <a:ln/>
        </p:spPr>
      </p:sp>
      <p:sp>
        <p:nvSpPr>
          <p:cNvPr id="27" name="Text 25"/>
          <p:cNvSpPr/>
          <p:nvPr/>
        </p:nvSpPr>
        <p:spPr>
          <a:xfrm>
            <a:off x="822960" y="4050792"/>
            <a:ext cx="1828800" cy="292608"/>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Result</a:t>
            </a:r>
            <a:endParaRPr lang="en-US" sz="1000" dirty="0"/>
          </a:p>
        </p:txBody>
      </p:sp>
      <p:sp>
        <p:nvSpPr>
          <p:cNvPr id="28" name="Text 26"/>
          <p:cNvSpPr/>
          <p:nvPr/>
        </p:nvSpPr>
        <p:spPr>
          <a:xfrm>
            <a:off x="2743200" y="4050792"/>
            <a:ext cx="1645920" cy="292608"/>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+3.35% WIN</a:t>
            </a:r>
            <a:endParaRPr lang="en-US" sz="1000" dirty="0"/>
          </a:p>
        </p:txBody>
      </p:sp>
      <p:sp>
        <p:nvSpPr>
          <p:cNvPr id="29" name="Text 27"/>
          <p:cNvSpPr/>
          <p:nvPr/>
        </p:nvSpPr>
        <p:spPr>
          <a:xfrm>
            <a:off x="731520" y="4480560"/>
            <a:ext cx="2743200" cy="228600"/>
          </a:xfrm>
          <a:prstGeom prst="rect">
            <a:avLst/>
          </a:prstGeom>
          <a:noFill/>
          <a:ln/>
        </p:spPr>
        <p:txBody>
          <a:bodyPr wrap="square" lIns="0" tIns="0" rIns="0" bIns="0" rtlCol="0" anchor="ctr"/>
          <a:lstStyle/>
          <a:p>
            <a:pPr indent="0" marL="0">
              <a:buNone/>
            </a:pPr>
            <a:r>
              <a:rPr lang="en-US" sz="1000" b="1" dirty="0">
                <a:solidFill>
                  <a:srgbClr val="FFFFFF"/>
                </a:solidFill>
                <a:latin typeface="Georgia" pitchFamily="34" charset="0"/>
                <a:ea typeface="Georgia" pitchFamily="34" charset="-122"/>
                <a:cs typeface="Georgia" pitchFamily="34" charset="-120"/>
              </a:rPr>
              <a:t>Why It Triggered:</a:t>
            </a:r>
            <a:endParaRPr lang="en-US" sz="1000" dirty="0"/>
          </a:p>
        </p:txBody>
      </p:sp>
      <p:sp>
        <p:nvSpPr>
          <p:cNvPr id="30" name="Shape 28"/>
          <p:cNvSpPr/>
          <p:nvPr/>
        </p:nvSpPr>
        <p:spPr>
          <a:xfrm>
            <a:off x="5029200" y="1417320"/>
            <a:ext cx="3749040" cy="329184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31" name="Text 29"/>
          <p:cNvSpPr/>
          <p:nvPr/>
        </p:nvSpPr>
        <p:spPr>
          <a:xfrm>
            <a:off x="5212080" y="1554480"/>
            <a:ext cx="3200400" cy="27432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Confluence Breakdown</a:t>
            </a:r>
            <a:endParaRPr lang="en-US" sz="1300" dirty="0"/>
          </a:p>
        </p:txBody>
      </p:sp>
      <p:sp>
        <p:nvSpPr>
          <p:cNvPr id="32" name="Text 30"/>
          <p:cNvSpPr/>
          <p:nvPr/>
        </p:nvSpPr>
        <p:spPr>
          <a:xfrm>
            <a:off x="5212080" y="1965960"/>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S/R Proximity</a:t>
            </a:r>
            <a:endParaRPr lang="en-US" sz="900" dirty="0"/>
          </a:p>
        </p:txBody>
      </p:sp>
      <p:sp>
        <p:nvSpPr>
          <p:cNvPr id="33" name="Text 31"/>
          <p:cNvSpPr/>
          <p:nvPr/>
        </p:nvSpPr>
        <p:spPr>
          <a:xfrm>
            <a:off x="6537960" y="1965960"/>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18/20</a:t>
            </a:r>
            <a:endParaRPr lang="en-US" sz="900" dirty="0"/>
          </a:p>
        </p:txBody>
      </p:sp>
      <p:sp>
        <p:nvSpPr>
          <p:cNvPr id="34" name="Text 32"/>
          <p:cNvSpPr/>
          <p:nvPr/>
        </p:nvSpPr>
        <p:spPr>
          <a:xfrm>
            <a:off x="7223760" y="1965960"/>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0.4% from 10-touch support</a:t>
            </a:r>
            <a:endParaRPr lang="en-US" sz="800" dirty="0"/>
          </a:p>
        </p:txBody>
      </p:sp>
      <p:sp>
        <p:nvSpPr>
          <p:cNvPr id="35" name="Text 33"/>
          <p:cNvSpPr/>
          <p:nvPr/>
        </p:nvSpPr>
        <p:spPr>
          <a:xfrm>
            <a:off x="5212080" y="2313432"/>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S/R Strength</a:t>
            </a:r>
            <a:endParaRPr lang="en-US" sz="900" dirty="0"/>
          </a:p>
        </p:txBody>
      </p:sp>
      <p:sp>
        <p:nvSpPr>
          <p:cNvPr id="36" name="Text 34"/>
          <p:cNvSpPr/>
          <p:nvPr/>
        </p:nvSpPr>
        <p:spPr>
          <a:xfrm>
            <a:off x="6537960" y="2313432"/>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12/15</a:t>
            </a:r>
            <a:endParaRPr lang="en-US" sz="900" dirty="0"/>
          </a:p>
        </p:txBody>
      </p:sp>
      <p:sp>
        <p:nvSpPr>
          <p:cNvPr id="37" name="Text 35"/>
          <p:cNvSpPr/>
          <p:nvPr/>
        </p:nvSpPr>
        <p:spPr>
          <a:xfrm>
            <a:off x="7223760" y="2313432"/>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10 pivot touches in zone</a:t>
            </a:r>
            <a:endParaRPr lang="en-US" sz="800" dirty="0"/>
          </a:p>
        </p:txBody>
      </p:sp>
      <p:sp>
        <p:nvSpPr>
          <p:cNvPr id="38" name="Text 36"/>
          <p:cNvSpPr/>
          <p:nvPr/>
        </p:nvSpPr>
        <p:spPr>
          <a:xfrm>
            <a:off x="5212080" y="2660904"/>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Regime</a:t>
            </a:r>
            <a:endParaRPr lang="en-US" sz="900" dirty="0"/>
          </a:p>
        </p:txBody>
      </p:sp>
      <p:sp>
        <p:nvSpPr>
          <p:cNvPr id="39" name="Text 37"/>
          <p:cNvSpPr/>
          <p:nvPr/>
        </p:nvSpPr>
        <p:spPr>
          <a:xfrm>
            <a:off x="6537960" y="2660904"/>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16/20</a:t>
            </a:r>
            <a:endParaRPr lang="en-US" sz="900" dirty="0"/>
          </a:p>
        </p:txBody>
      </p:sp>
      <p:sp>
        <p:nvSpPr>
          <p:cNvPr id="40" name="Text 38"/>
          <p:cNvSpPr/>
          <p:nvPr/>
        </p:nvSpPr>
        <p:spPr>
          <a:xfrm>
            <a:off x="7223760" y="2660904"/>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Trending up, 78% confidence</a:t>
            </a:r>
            <a:endParaRPr lang="en-US" sz="800" dirty="0"/>
          </a:p>
        </p:txBody>
      </p:sp>
      <p:sp>
        <p:nvSpPr>
          <p:cNvPr id="41" name="Text 39"/>
          <p:cNvSpPr/>
          <p:nvPr/>
        </p:nvSpPr>
        <p:spPr>
          <a:xfrm>
            <a:off x="5212080" y="3008376"/>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RSI</a:t>
            </a:r>
            <a:endParaRPr lang="en-US" sz="900" dirty="0"/>
          </a:p>
        </p:txBody>
      </p:sp>
      <p:sp>
        <p:nvSpPr>
          <p:cNvPr id="42" name="Text 40"/>
          <p:cNvSpPr/>
          <p:nvPr/>
        </p:nvSpPr>
        <p:spPr>
          <a:xfrm>
            <a:off x="6537960" y="3008376"/>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10/15</a:t>
            </a:r>
            <a:endParaRPr lang="en-US" sz="900" dirty="0"/>
          </a:p>
        </p:txBody>
      </p:sp>
      <p:sp>
        <p:nvSpPr>
          <p:cNvPr id="43" name="Text 41"/>
          <p:cNvSpPr/>
          <p:nvPr/>
        </p:nvSpPr>
        <p:spPr>
          <a:xfrm>
            <a:off x="7223760" y="3008376"/>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RSI at 38 — near oversold</a:t>
            </a:r>
            <a:endParaRPr lang="en-US" sz="800" dirty="0"/>
          </a:p>
        </p:txBody>
      </p:sp>
      <p:sp>
        <p:nvSpPr>
          <p:cNvPr id="44" name="Text 42"/>
          <p:cNvSpPr/>
          <p:nvPr/>
        </p:nvSpPr>
        <p:spPr>
          <a:xfrm>
            <a:off x="5212080" y="3355848"/>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Volume</a:t>
            </a:r>
            <a:endParaRPr lang="en-US" sz="900" dirty="0"/>
          </a:p>
        </p:txBody>
      </p:sp>
      <p:sp>
        <p:nvSpPr>
          <p:cNvPr id="45" name="Text 43"/>
          <p:cNvSpPr/>
          <p:nvPr/>
        </p:nvSpPr>
        <p:spPr>
          <a:xfrm>
            <a:off x="6537960" y="3355848"/>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7/10</a:t>
            </a:r>
            <a:endParaRPr lang="en-US" sz="900" dirty="0"/>
          </a:p>
        </p:txBody>
      </p:sp>
      <p:sp>
        <p:nvSpPr>
          <p:cNvPr id="46" name="Text 44"/>
          <p:cNvSpPr/>
          <p:nvPr/>
        </p:nvSpPr>
        <p:spPr>
          <a:xfrm>
            <a:off x="7223760" y="3355848"/>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1.3x average volume</a:t>
            </a:r>
            <a:endParaRPr lang="en-US" sz="800" dirty="0"/>
          </a:p>
        </p:txBody>
      </p:sp>
      <p:sp>
        <p:nvSpPr>
          <p:cNvPr id="47" name="Text 45"/>
          <p:cNvSpPr/>
          <p:nvPr/>
        </p:nvSpPr>
        <p:spPr>
          <a:xfrm>
            <a:off x="5212080" y="3703320"/>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Trend</a:t>
            </a:r>
            <a:endParaRPr lang="en-US" sz="900" dirty="0"/>
          </a:p>
        </p:txBody>
      </p:sp>
      <p:sp>
        <p:nvSpPr>
          <p:cNvPr id="48" name="Text 46"/>
          <p:cNvSpPr/>
          <p:nvPr/>
        </p:nvSpPr>
        <p:spPr>
          <a:xfrm>
            <a:off x="6537960" y="3703320"/>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8/10</a:t>
            </a:r>
            <a:endParaRPr lang="en-US" sz="900" dirty="0"/>
          </a:p>
        </p:txBody>
      </p:sp>
      <p:sp>
        <p:nvSpPr>
          <p:cNvPr id="49" name="Text 47"/>
          <p:cNvSpPr/>
          <p:nvPr/>
        </p:nvSpPr>
        <p:spPr>
          <a:xfrm>
            <a:off x="7223760" y="3703320"/>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Price above 50 EMA</a:t>
            </a:r>
            <a:endParaRPr lang="en-US" sz="800" dirty="0"/>
          </a:p>
        </p:txBody>
      </p:sp>
      <p:sp>
        <p:nvSpPr>
          <p:cNvPr id="50" name="Text 48"/>
          <p:cNvSpPr/>
          <p:nvPr/>
        </p:nvSpPr>
        <p:spPr>
          <a:xfrm>
            <a:off x="5212080" y="4050792"/>
            <a:ext cx="1280160" cy="292608"/>
          </a:xfrm>
          <a:prstGeom prst="rect">
            <a:avLst/>
          </a:prstGeom>
          <a:noFill/>
          <a:ln/>
        </p:spPr>
        <p:txBody>
          <a:bodyPr wrap="square" lIns="0" tIns="0" rIns="0" bIns="0" rtlCol="0" anchor="ctr"/>
          <a:lstStyle/>
          <a:p>
            <a:pPr indent="0" marL="0">
              <a:buNone/>
            </a:pPr>
            <a:r>
              <a:rPr lang="en-US" sz="900" dirty="0">
                <a:solidFill>
                  <a:srgbClr val="C8C8C8"/>
                </a:solidFill>
                <a:latin typeface="Calibri" pitchFamily="34" charset="0"/>
                <a:ea typeface="Calibri" pitchFamily="34" charset="-122"/>
                <a:cs typeface="Calibri" pitchFamily="34" charset="-120"/>
              </a:rPr>
              <a:t>MTF</a:t>
            </a:r>
            <a:endParaRPr lang="en-US" sz="900" dirty="0"/>
          </a:p>
        </p:txBody>
      </p:sp>
      <p:sp>
        <p:nvSpPr>
          <p:cNvPr id="51" name="Text 49"/>
          <p:cNvSpPr/>
          <p:nvPr/>
        </p:nvSpPr>
        <p:spPr>
          <a:xfrm>
            <a:off x="6537960" y="4050792"/>
            <a:ext cx="640080" cy="292608"/>
          </a:xfrm>
          <a:prstGeom prst="rect">
            <a:avLst/>
          </a:prstGeom>
          <a:noFill/>
          <a:ln/>
        </p:spPr>
        <p:txBody>
          <a:bodyPr wrap="square" lIns="0" tIns="0" rIns="0" bIns="0" rtlCol="0" anchor="ctr"/>
          <a:lstStyle/>
          <a:p>
            <a:pPr algn="ctr" indent="0" marL="0">
              <a:buNone/>
            </a:pPr>
            <a:r>
              <a:rPr lang="en-US" sz="900" b="1" dirty="0">
                <a:solidFill>
                  <a:srgbClr val="00E5A0"/>
                </a:solidFill>
                <a:latin typeface="Courier New" pitchFamily="34" charset="0"/>
                <a:ea typeface="Courier New" pitchFamily="34" charset="-122"/>
                <a:cs typeface="Courier New" pitchFamily="34" charset="-120"/>
              </a:rPr>
              <a:t>3/10</a:t>
            </a:r>
            <a:endParaRPr lang="en-US" sz="900" dirty="0"/>
          </a:p>
        </p:txBody>
      </p:sp>
      <p:sp>
        <p:nvSpPr>
          <p:cNvPr id="52" name="Text 50"/>
          <p:cNvSpPr/>
          <p:nvPr/>
        </p:nvSpPr>
        <p:spPr>
          <a:xfrm>
            <a:off x="7223760" y="4050792"/>
            <a:ext cx="1371600" cy="292608"/>
          </a:xfrm>
          <a:prstGeom prst="rect">
            <a:avLst/>
          </a:prstGeom>
          <a:noFill/>
          <a:ln/>
        </p:spPr>
        <p:txBody>
          <a:bodyPr wrap="square" lIns="0" tIns="0" rIns="0" bIns="0" rtlCol="0" anchor="ctr"/>
          <a:lstStyle/>
          <a:p>
            <a:pPr indent="0" marL="0">
              <a:buNone/>
            </a:pPr>
            <a:r>
              <a:rPr lang="en-US" sz="800" dirty="0">
                <a:solidFill>
                  <a:srgbClr val="444444"/>
                </a:solidFill>
                <a:latin typeface="Calibri" pitchFamily="34" charset="0"/>
                <a:ea typeface="Calibri" pitchFamily="34" charset="-122"/>
                <a:cs typeface="Calibri" pitchFamily="34" charset="-120"/>
              </a:rPr>
              <a:t>Single timeframe mode</a:t>
            </a:r>
            <a:endParaRPr lang="en-US" sz="800" dirty="0"/>
          </a:p>
        </p:txBody>
      </p:sp>
      <p:sp>
        <p:nvSpPr>
          <p:cNvPr id="53" name="Shape 51"/>
          <p:cNvSpPr/>
          <p:nvPr/>
        </p:nvSpPr>
        <p:spPr>
          <a:xfrm>
            <a:off x="5212080" y="4434840"/>
            <a:ext cx="3383280" cy="18288"/>
          </a:xfrm>
          <a:prstGeom prst="rect">
            <a:avLst/>
          </a:prstGeom>
          <a:solidFill>
            <a:srgbClr val="00E5A0">
              <a:alpha val="30000"/>
            </a:srgbClr>
          </a:solidFill>
          <a:ln/>
        </p:spPr>
      </p:sp>
      <p:sp>
        <p:nvSpPr>
          <p:cNvPr id="54" name="Text 52"/>
          <p:cNvSpPr/>
          <p:nvPr/>
        </p:nvSpPr>
        <p:spPr>
          <a:xfrm>
            <a:off x="5212080" y="4526280"/>
            <a:ext cx="3383280" cy="228600"/>
          </a:xfrm>
          <a:prstGeom prst="rect">
            <a:avLst/>
          </a:prstGeom>
          <a:noFill/>
          <a:ln/>
        </p:spPr>
        <p:txBody>
          <a:bodyPr wrap="square" lIns="0" tIns="0" rIns="0" bIns="0" rtlCol="0" anchor="ctr"/>
          <a:lstStyle/>
          <a:p>
            <a:pPr algn="ctr" indent="0" marL="0">
              <a:buNone/>
            </a:pPr>
            <a:r>
              <a:rPr lang="en-US" sz="1100" b="1" dirty="0">
                <a:solidFill>
                  <a:srgbClr val="00E5A0"/>
                </a:solidFill>
                <a:latin typeface="Courier New" pitchFamily="34" charset="0"/>
                <a:ea typeface="Courier New" pitchFamily="34" charset="-122"/>
                <a:cs typeface="Courier New" pitchFamily="34" charset="-120"/>
              </a:rPr>
              <a:t>TOTAL: 74/100 — GOOD</a:t>
            </a:r>
            <a:endParaRPr lang="en-US" sz="1100" dirty="0"/>
          </a:p>
        </p:txBody>
      </p:sp>
      <p:sp>
        <p:nvSpPr>
          <p:cNvPr id="55" name="Text 53"/>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05</a:t>
            </a:r>
            <a:endParaRPr lang="en-US" sz="3600" dirty="0"/>
          </a:p>
        </p:txBody>
      </p:sp>
      <p:sp>
        <p:nvSpPr>
          <p:cNvPr id="3" name="Text 1"/>
          <p:cNvSpPr/>
          <p:nvPr/>
        </p:nvSpPr>
        <p:spPr>
          <a:xfrm>
            <a:off x="548640" y="685800"/>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Trade Walkthrough: The Loss</a:t>
            </a:r>
            <a:endParaRPr lang="en-US" sz="2600" dirty="0"/>
          </a:p>
        </p:txBody>
      </p:sp>
      <p:sp>
        <p:nvSpPr>
          <p:cNvPr id="4" name="Shape 2"/>
          <p:cNvSpPr/>
          <p:nvPr/>
        </p:nvSpPr>
        <p:spPr>
          <a:xfrm>
            <a:off x="548640" y="1188720"/>
            <a:ext cx="1828800" cy="13716"/>
          </a:xfrm>
          <a:prstGeom prst="rect">
            <a:avLst/>
          </a:prstGeom>
          <a:solidFill>
            <a:srgbClr val="FF4D4D">
              <a:alpha val="50000"/>
            </a:srgbClr>
          </a:solidFill>
          <a:ln/>
        </p:spPr>
      </p:sp>
      <p:sp>
        <p:nvSpPr>
          <p:cNvPr id="5" name="Shape 3"/>
          <p:cNvSpPr/>
          <p:nvPr/>
        </p:nvSpPr>
        <p:spPr>
          <a:xfrm>
            <a:off x="548640" y="1417320"/>
            <a:ext cx="4114800" cy="2560320"/>
          </a:xfrm>
          <a:prstGeom prst="rect">
            <a:avLst/>
          </a:prstGeom>
          <a:solidFill>
            <a:srgbClr val="0D0D14"/>
          </a:solidFill>
          <a:ln w="6350">
            <a:solidFill>
              <a:srgbClr val="FF4D4D"/>
            </a:solidFill>
            <a:prstDash val="solid"/>
          </a:ln>
          <a:effectLst>
            <a:outerShdw sx="100000" sy="100000" kx="0" ky="0" algn="bl" rotWithShape="0" blurRad="101600" dist="25400" dir="8100000">
              <a:srgbClr val="000000">
                <a:alpha val="30000"/>
              </a:srgbClr>
            </a:outerShdw>
          </a:effectLst>
        </p:spPr>
      </p:sp>
      <p:sp>
        <p:nvSpPr>
          <p:cNvPr id="6" name="Text 4"/>
          <p:cNvSpPr/>
          <p:nvPr/>
        </p:nvSpPr>
        <p:spPr>
          <a:xfrm>
            <a:off x="731520" y="1554480"/>
            <a:ext cx="2286000" cy="274320"/>
          </a:xfrm>
          <a:prstGeom prst="rect">
            <a:avLst/>
          </a:prstGeom>
          <a:noFill/>
          <a:ln/>
        </p:spPr>
        <p:txBody>
          <a:bodyPr wrap="square" lIns="0" tIns="0" rIns="0" bIns="0" rtlCol="0" anchor="ctr"/>
          <a:lstStyle/>
          <a:p>
            <a:pPr indent="0" marL="0">
              <a:buNone/>
            </a:pPr>
            <a:r>
              <a:rPr lang="en-US" sz="1200" dirty="0">
                <a:solidFill>
                  <a:srgbClr val="FF4D4D"/>
                </a:solidFill>
                <a:latin typeface="Courier New" pitchFamily="34" charset="0"/>
                <a:ea typeface="Courier New" pitchFamily="34" charset="-122"/>
                <a:cs typeface="Courier New" pitchFamily="34" charset="-120"/>
              </a:rPr>
              <a:t>ETH/USDT — 4H Chart</a:t>
            </a:r>
            <a:endParaRPr lang="en-US" sz="1200" dirty="0"/>
          </a:p>
        </p:txBody>
      </p:sp>
      <p:sp>
        <p:nvSpPr>
          <p:cNvPr id="7" name="Text 5"/>
          <p:cNvSpPr/>
          <p:nvPr/>
        </p:nvSpPr>
        <p:spPr>
          <a:xfrm>
            <a:off x="822960" y="192024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Direction</a:t>
            </a:r>
            <a:endParaRPr lang="en-US" sz="1000" dirty="0"/>
          </a:p>
        </p:txBody>
      </p:sp>
      <p:sp>
        <p:nvSpPr>
          <p:cNvPr id="8" name="Text 6"/>
          <p:cNvSpPr/>
          <p:nvPr/>
        </p:nvSpPr>
        <p:spPr>
          <a:xfrm>
            <a:off x="2743200" y="1920240"/>
            <a:ext cx="1645920" cy="274320"/>
          </a:xfrm>
          <a:prstGeom prst="rect">
            <a:avLst/>
          </a:prstGeom>
          <a:noFill/>
          <a:ln/>
        </p:spPr>
        <p:txBody>
          <a:bodyPr wrap="square" lIns="0" tIns="0" rIns="0" bIns="0" rtlCol="0" anchor="ctr"/>
          <a:lstStyle/>
          <a:p>
            <a:pPr algn="r" indent="0" marL="0">
              <a:buNone/>
            </a:pPr>
            <a:r>
              <a:rPr lang="en-US" sz="1000" b="1" dirty="0">
                <a:solidFill>
                  <a:srgbClr val="FF4D4D"/>
                </a:solidFill>
                <a:latin typeface="Courier New" pitchFamily="34" charset="0"/>
                <a:ea typeface="Courier New" pitchFamily="34" charset="-122"/>
                <a:cs typeface="Courier New" pitchFamily="34" charset="-120"/>
              </a:rPr>
              <a:t>SHORT</a:t>
            </a:r>
            <a:endParaRPr lang="en-US" sz="1000" dirty="0"/>
          </a:p>
        </p:txBody>
      </p:sp>
      <p:sp>
        <p:nvSpPr>
          <p:cNvPr id="9" name="Text 7"/>
          <p:cNvSpPr/>
          <p:nvPr/>
        </p:nvSpPr>
        <p:spPr>
          <a:xfrm>
            <a:off x="822960" y="224028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Entry</a:t>
            </a:r>
            <a:endParaRPr lang="en-US" sz="1000" dirty="0"/>
          </a:p>
        </p:txBody>
      </p:sp>
      <p:sp>
        <p:nvSpPr>
          <p:cNvPr id="10" name="Text 8"/>
          <p:cNvSpPr/>
          <p:nvPr/>
        </p:nvSpPr>
        <p:spPr>
          <a:xfrm>
            <a:off x="2743200" y="2240280"/>
            <a:ext cx="1645920" cy="274320"/>
          </a:xfrm>
          <a:prstGeom prst="rect">
            <a:avLst/>
          </a:prstGeom>
          <a:noFill/>
          <a:ln/>
        </p:spPr>
        <p:txBody>
          <a:bodyPr wrap="square" lIns="0" tIns="0" rIns="0" bIns="0" rtlCol="0" anchor="ctr"/>
          <a:lstStyle/>
          <a:p>
            <a:pPr algn="r" indent="0" marL="0">
              <a:buNone/>
            </a:pPr>
            <a:r>
              <a:rPr lang="en-US" sz="1000" b="1" dirty="0">
                <a:solidFill>
                  <a:srgbClr val="FFFFFF"/>
                </a:solidFill>
                <a:latin typeface="Courier New" pitchFamily="34" charset="0"/>
                <a:ea typeface="Courier New" pitchFamily="34" charset="-122"/>
                <a:cs typeface="Courier New" pitchFamily="34" charset="-120"/>
              </a:rPr>
              <a:t>$2,845</a:t>
            </a:r>
            <a:endParaRPr lang="en-US" sz="1000" dirty="0"/>
          </a:p>
        </p:txBody>
      </p:sp>
      <p:sp>
        <p:nvSpPr>
          <p:cNvPr id="11" name="Text 9"/>
          <p:cNvSpPr/>
          <p:nvPr/>
        </p:nvSpPr>
        <p:spPr>
          <a:xfrm>
            <a:off x="822960" y="256032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Stop Loss</a:t>
            </a:r>
            <a:endParaRPr lang="en-US" sz="1000" dirty="0"/>
          </a:p>
        </p:txBody>
      </p:sp>
      <p:sp>
        <p:nvSpPr>
          <p:cNvPr id="12" name="Text 10"/>
          <p:cNvSpPr/>
          <p:nvPr/>
        </p:nvSpPr>
        <p:spPr>
          <a:xfrm>
            <a:off x="2743200" y="2560320"/>
            <a:ext cx="1645920" cy="274320"/>
          </a:xfrm>
          <a:prstGeom prst="rect">
            <a:avLst/>
          </a:prstGeom>
          <a:noFill/>
          <a:ln/>
        </p:spPr>
        <p:txBody>
          <a:bodyPr wrap="square" lIns="0" tIns="0" rIns="0" bIns="0" rtlCol="0" anchor="ctr"/>
          <a:lstStyle/>
          <a:p>
            <a:pPr algn="r" indent="0" marL="0">
              <a:buNone/>
            </a:pPr>
            <a:r>
              <a:rPr lang="en-US" sz="1000" b="1" dirty="0">
                <a:solidFill>
                  <a:srgbClr val="FF4D4D"/>
                </a:solidFill>
                <a:latin typeface="Courier New" pitchFamily="34" charset="0"/>
                <a:ea typeface="Courier New" pitchFamily="34" charset="-122"/>
                <a:cs typeface="Courier New" pitchFamily="34" charset="-120"/>
              </a:rPr>
              <a:t>$2,912 (+2.35%)</a:t>
            </a:r>
            <a:endParaRPr lang="en-US" sz="1000" dirty="0"/>
          </a:p>
        </p:txBody>
      </p:sp>
      <p:sp>
        <p:nvSpPr>
          <p:cNvPr id="13" name="Text 11"/>
          <p:cNvSpPr/>
          <p:nvPr/>
        </p:nvSpPr>
        <p:spPr>
          <a:xfrm>
            <a:off x="822960" y="288036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Take Profit</a:t>
            </a:r>
            <a:endParaRPr lang="en-US" sz="1000" dirty="0"/>
          </a:p>
        </p:txBody>
      </p:sp>
      <p:sp>
        <p:nvSpPr>
          <p:cNvPr id="14" name="Text 12"/>
          <p:cNvSpPr/>
          <p:nvPr/>
        </p:nvSpPr>
        <p:spPr>
          <a:xfrm>
            <a:off x="2743200" y="2880360"/>
            <a:ext cx="1645920" cy="27432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$2,710 (-4.74%)</a:t>
            </a:r>
            <a:endParaRPr lang="en-US" sz="1000" dirty="0"/>
          </a:p>
        </p:txBody>
      </p:sp>
      <p:sp>
        <p:nvSpPr>
          <p:cNvPr id="15" name="Text 13"/>
          <p:cNvSpPr/>
          <p:nvPr/>
        </p:nvSpPr>
        <p:spPr>
          <a:xfrm>
            <a:off x="822960" y="320040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Confluence Score</a:t>
            </a:r>
            <a:endParaRPr lang="en-US" sz="1000" dirty="0"/>
          </a:p>
        </p:txBody>
      </p:sp>
      <p:sp>
        <p:nvSpPr>
          <p:cNvPr id="16" name="Text 14"/>
          <p:cNvSpPr/>
          <p:nvPr/>
        </p:nvSpPr>
        <p:spPr>
          <a:xfrm>
            <a:off x="2743200" y="3200400"/>
            <a:ext cx="1645920" cy="274320"/>
          </a:xfrm>
          <a:prstGeom prst="rect">
            <a:avLst/>
          </a:prstGeom>
          <a:noFill/>
          <a:ln/>
        </p:spPr>
        <p:txBody>
          <a:bodyPr wrap="square" lIns="0" tIns="0" rIns="0" bIns="0" rtlCol="0" anchor="ctr"/>
          <a:lstStyle/>
          <a:p>
            <a:pPr algn="r" indent="0" marL="0">
              <a:buNone/>
            </a:pPr>
            <a:r>
              <a:rPr lang="en-US" sz="1000" b="1" dirty="0">
                <a:solidFill>
                  <a:srgbClr val="FF9F43"/>
                </a:solidFill>
                <a:latin typeface="Courier New" pitchFamily="34" charset="0"/>
                <a:ea typeface="Courier New" pitchFamily="34" charset="-122"/>
                <a:cs typeface="Courier New" pitchFamily="34" charset="-120"/>
              </a:rPr>
              <a:t>52 / 100</a:t>
            </a:r>
            <a:endParaRPr lang="en-US" sz="1000" dirty="0"/>
          </a:p>
        </p:txBody>
      </p:sp>
      <p:sp>
        <p:nvSpPr>
          <p:cNvPr id="17" name="Text 15"/>
          <p:cNvSpPr/>
          <p:nvPr/>
        </p:nvSpPr>
        <p:spPr>
          <a:xfrm>
            <a:off x="822960" y="3520440"/>
            <a:ext cx="1828800" cy="27432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Result</a:t>
            </a:r>
            <a:endParaRPr lang="en-US" sz="1000" dirty="0"/>
          </a:p>
        </p:txBody>
      </p:sp>
      <p:sp>
        <p:nvSpPr>
          <p:cNvPr id="18" name="Text 16"/>
          <p:cNvSpPr/>
          <p:nvPr/>
        </p:nvSpPr>
        <p:spPr>
          <a:xfrm>
            <a:off x="2743200" y="3520440"/>
            <a:ext cx="1645920" cy="274320"/>
          </a:xfrm>
          <a:prstGeom prst="rect">
            <a:avLst/>
          </a:prstGeom>
          <a:noFill/>
          <a:ln/>
        </p:spPr>
        <p:txBody>
          <a:bodyPr wrap="square" lIns="0" tIns="0" rIns="0" bIns="0" rtlCol="0" anchor="ctr"/>
          <a:lstStyle/>
          <a:p>
            <a:pPr algn="r" indent="0" marL="0">
              <a:buNone/>
            </a:pPr>
            <a:r>
              <a:rPr lang="en-US" sz="1000" b="1" dirty="0">
                <a:solidFill>
                  <a:srgbClr val="FF4D4D"/>
                </a:solidFill>
                <a:latin typeface="Courier New" pitchFamily="34" charset="0"/>
                <a:ea typeface="Courier New" pitchFamily="34" charset="-122"/>
                <a:cs typeface="Courier New" pitchFamily="34" charset="-120"/>
              </a:rPr>
              <a:t>-2.35% LOSS</a:t>
            </a:r>
            <a:endParaRPr lang="en-US" sz="1000" dirty="0"/>
          </a:p>
        </p:txBody>
      </p:sp>
      <p:sp>
        <p:nvSpPr>
          <p:cNvPr id="19" name="Shape 17"/>
          <p:cNvSpPr/>
          <p:nvPr/>
        </p:nvSpPr>
        <p:spPr>
          <a:xfrm>
            <a:off x="5029200" y="1417320"/>
            <a:ext cx="3749040" cy="256032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pic>
        <p:nvPicPr>
          <p:cNvPr id="20" name="Image 0" descr="preencoded.png">    </p:cNvPr>
          <p:cNvPicPr>
            <a:picLocks noChangeAspect="1"/>
          </p:cNvPicPr>
          <p:nvPr/>
        </p:nvPicPr>
        <p:blipFill>
          <a:blip r:embed="rId1"/>
          <a:stretch>
            <a:fillRect/>
          </a:stretch>
        </p:blipFill>
        <p:spPr>
          <a:xfrm>
            <a:off x="5257800" y="1600200"/>
            <a:ext cx="274320" cy="274320"/>
          </a:xfrm>
          <a:prstGeom prst="rect">
            <a:avLst/>
          </a:prstGeom>
        </p:spPr>
      </p:pic>
      <p:sp>
        <p:nvSpPr>
          <p:cNvPr id="21" name="Text 18"/>
          <p:cNvSpPr/>
          <p:nvPr/>
        </p:nvSpPr>
        <p:spPr>
          <a:xfrm>
            <a:off x="5623560" y="1600200"/>
            <a:ext cx="2286000" cy="27432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Why We Show Losses</a:t>
            </a:r>
            <a:endParaRPr lang="en-US" sz="1400" dirty="0"/>
          </a:p>
        </p:txBody>
      </p:sp>
      <p:sp>
        <p:nvSpPr>
          <p:cNvPr id="22" name="Text 19"/>
          <p:cNvSpPr/>
          <p:nvPr/>
        </p:nvSpPr>
        <p:spPr>
          <a:xfrm>
            <a:off x="5257800" y="2011680"/>
            <a:ext cx="3291840" cy="1828800"/>
          </a:xfrm>
          <a:prstGeom prst="rect">
            <a:avLst/>
          </a:prstGeom>
          <a:noFill/>
          <a:ln/>
        </p:spPr>
        <p:txBody>
          <a:bodyPr wrap="square" rtlCol="0" anchor="ctr"/>
          <a:lstStyle/>
          <a:p>
            <a:pPr indent="0" marL="0">
              <a:lnSpc>
                <a:spcPts val="1500"/>
              </a:lnSpc>
              <a:buNone/>
            </a:pPr>
            <a:r>
              <a:rPr lang="en-US" sz="1100" dirty="0">
                <a:solidFill>
                  <a:srgbClr val="C8C8C8"/>
                </a:solidFill>
                <a:latin typeface="Calibri" pitchFamily="34" charset="0"/>
                <a:ea typeface="Calibri" pitchFamily="34" charset="-122"/>
                <a:cs typeface="Calibri" pitchFamily="34" charset="-120"/>
              </a:rPr>
              <a:t>This trade hit stop loss. It happens.
</a:t>
            </a:r>
            <a:pPr indent="0" marL="0">
              <a:lnSpc>
                <a:spcPts val="1500"/>
              </a:lnSpc>
              <a:buNone/>
            </a:pPr>
            <a:r>
              <a:rPr lang="en-US" sz="1100" b="1" dirty="0">
                <a:solidFill>
                  <a:srgbClr val="FF4D4D"/>
                </a:solidFill>
                <a:latin typeface="Calibri" pitchFamily="34" charset="0"/>
                <a:ea typeface="Calibri" pitchFamily="34" charset="-122"/>
                <a:cs typeface="Calibri" pitchFamily="34" charset="-120"/>
              </a:rPr>
              <a:t>We lose about 60% of our trades. </a:t>
            </a:r>
            <a:pPr indent="0" marL="0">
              <a:lnSpc>
                <a:spcPts val="1500"/>
              </a:lnSpc>
              <a:buNone/>
            </a:pPr>
            <a:r>
              <a:rPr lang="en-US" sz="1100" dirty="0">
                <a:solidFill>
                  <a:srgbClr val="C8C8C8"/>
                </a:solidFill>
                <a:latin typeface="Calibri" pitchFamily="34" charset="0"/>
                <a:ea typeface="Calibri" pitchFamily="34" charset="-122"/>
                <a:cs typeface="Calibri" pitchFamily="34" charset="-120"/>
              </a:rPr>
              <a:t>And we're still profitable.
</a:t>
            </a:r>
            <a:pPr indent="0" marL="0">
              <a:lnSpc>
                <a:spcPts val="1500"/>
              </a:lnSpc>
              <a:buNone/>
            </a:pPr>
            <a:r>
              <a:rPr lang="en-US" sz="1000" dirty="0">
                <a:solidFill>
                  <a:srgbClr val="888888"/>
                </a:solidFill>
                <a:latin typeface="Calibri" pitchFamily="34" charset="0"/>
                <a:ea typeface="Calibri" pitchFamily="34" charset="-122"/>
                <a:cs typeface="Calibri" pitchFamily="34" charset="-120"/>
              </a:rPr>
              <a:t>The math: a 40% win rate with 2.5:1 average R:R gives a profit factor of 1.52. That means for every $1 we risk, we make $1.52 back over time.
</a:t>
            </a:r>
            <a:pPr indent="0" marL="0">
              <a:lnSpc>
                <a:spcPts val="1500"/>
              </a:lnSpc>
              <a:buNone/>
            </a:pPr>
            <a:r>
              <a:rPr lang="en-US" sz="1000" dirty="0">
                <a:solidFill>
                  <a:srgbClr val="888888"/>
                </a:solidFill>
                <a:latin typeface="Calibri" pitchFamily="34" charset="0"/>
                <a:ea typeface="Calibri" pitchFamily="34" charset="-122"/>
                <a:cs typeface="Calibri" pitchFamily="34" charset="-120"/>
              </a:rPr>
              <a:t>Any service that only shows wins is lying to you. We publish every single trade — wins and losses — because that's how trust actually works.</a:t>
            </a:r>
            <a:endParaRPr lang="en-US" sz="1100" dirty="0"/>
          </a:p>
        </p:txBody>
      </p:sp>
      <p:sp>
        <p:nvSpPr>
          <p:cNvPr id="23" name="Shape 20"/>
          <p:cNvSpPr/>
          <p:nvPr/>
        </p:nvSpPr>
        <p:spPr>
          <a:xfrm>
            <a:off x="548640" y="4206240"/>
            <a:ext cx="8046720" cy="731520"/>
          </a:xfrm>
          <a:prstGeom prst="rect">
            <a:avLst/>
          </a:prstGeom>
          <a:solidFill>
            <a:srgbClr val="0D0D14"/>
          </a:solidFill>
          <a:ln w="3810">
            <a:solidFill>
              <a:srgbClr val="00E5A0"/>
            </a:solidFill>
            <a:prstDash val="solid"/>
          </a:ln>
        </p:spPr>
      </p:sp>
      <p:pic>
        <p:nvPicPr>
          <p:cNvPr id="24" name="Image 1" descr="preencoded.png">    </p:cNvPr>
          <p:cNvPicPr>
            <a:picLocks noChangeAspect="1"/>
          </p:cNvPicPr>
          <p:nvPr/>
        </p:nvPicPr>
        <p:blipFill>
          <a:blip r:embed="rId2"/>
          <a:stretch>
            <a:fillRect/>
          </a:stretch>
        </p:blipFill>
        <p:spPr>
          <a:xfrm>
            <a:off x="777240" y="4315968"/>
            <a:ext cx="320040" cy="320040"/>
          </a:xfrm>
          <a:prstGeom prst="rect">
            <a:avLst/>
          </a:prstGeom>
        </p:spPr>
      </p:pic>
      <p:sp>
        <p:nvSpPr>
          <p:cNvPr id="25" name="Text 21"/>
          <p:cNvSpPr/>
          <p:nvPr/>
        </p:nvSpPr>
        <p:spPr>
          <a:xfrm>
            <a:off x="1234440" y="4251960"/>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The Profit Factor Equation</a:t>
            </a:r>
            <a:endParaRPr lang="en-US" sz="1200" dirty="0"/>
          </a:p>
        </p:txBody>
      </p:sp>
      <p:sp>
        <p:nvSpPr>
          <p:cNvPr id="26" name="Text 22"/>
          <p:cNvSpPr/>
          <p:nvPr/>
        </p:nvSpPr>
        <p:spPr>
          <a:xfrm>
            <a:off x="1234440" y="4526280"/>
            <a:ext cx="685800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(Avg Win × Win Rate) ÷ (Avg Loss × Loss Rate) = 1.52 profit factor. Above 1.0 = profitable. We're at 1.52 across 624 trades.</a:t>
            </a:r>
            <a:endParaRPr lang="en-US" sz="1000" dirty="0"/>
          </a:p>
        </p:txBody>
      </p:sp>
      <p:sp>
        <p:nvSpPr>
          <p:cNvPr id="27" name="Text 23"/>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06</a:t>
            </a:r>
            <a:endParaRPr lang="en-US" sz="3600" dirty="0"/>
          </a:p>
        </p:txBody>
      </p:sp>
      <p:sp>
        <p:nvSpPr>
          <p:cNvPr id="3" name="Text 1"/>
          <p:cNvSpPr/>
          <p:nvPr/>
        </p:nvSpPr>
        <p:spPr>
          <a:xfrm>
            <a:off x="548640" y="685800"/>
            <a:ext cx="64008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Position Sizing: How Much to Risk</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Text 3"/>
          <p:cNvSpPr/>
          <p:nvPr/>
        </p:nvSpPr>
        <p:spPr>
          <a:xfrm>
            <a:off x="548640" y="1325880"/>
            <a:ext cx="7772400" cy="365760"/>
          </a:xfrm>
          <a:prstGeom prst="rect">
            <a:avLst/>
          </a:prstGeom>
          <a:noFill/>
          <a:ln/>
        </p:spPr>
        <p:txBody>
          <a:bodyPr wrap="square" rtlCol="0" anchor="ctr"/>
          <a:lstStyle/>
          <a:p>
            <a:pPr indent="0" marL="0">
              <a:buNone/>
            </a:pPr>
            <a:r>
              <a:rPr lang="en-US" sz="1300" dirty="0">
                <a:solidFill>
                  <a:srgbClr val="888888"/>
                </a:solidFill>
                <a:latin typeface="Calibri" pitchFamily="34" charset="0"/>
                <a:ea typeface="Calibri" pitchFamily="34" charset="-122"/>
                <a:cs typeface="Calibri" pitchFamily="34" charset="-120"/>
              </a:rPr>
              <a:t>The golden rule: never risk more than 1-2% of your account on a single trade. Here's what that looks like: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8046720" cy="914400"/>
        </p:xfrm>
        <a:graphic>
          <a:graphicData uri="http://schemas.openxmlformats.org/drawingml/2006/table">
            <a:tbl>
              <a:tblPr/>
              <a:tblGrid>
                <a:gridCol w="1280160"/>
                <a:gridCol w="1097280"/>
                <a:gridCol w="1097280"/>
                <a:gridCol w="2286000"/>
                <a:gridCol w="2286000"/>
              </a:tblGrid>
              <a:tr h="347472">
                <a:tc>
                  <a:txBody>
                    <a:bodyPr/>
                    <a:lstStyle/>
                    <a:p>
                      <a:pPr algn="ctr" indent="0" marL="0">
                        <a:buNone/>
                      </a:pPr>
                      <a:r>
                        <a:rPr lang="en-US" sz="1000" b="1" dirty="0">
                          <a:solidFill>
                            <a:srgbClr val="00E5A0"/>
                          </a:solidFill>
                          <a:latin typeface="Courier New" pitchFamily="34" charset="0"/>
                          <a:ea typeface="Courier New" pitchFamily="34" charset="-122"/>
                          <a:cs typeface="Courier New" pitchFamily="34" charset="-120"/>
                        </a:rPr>
                        <a:t>Account Size</a:t>
                      </a:r>
                      <a:endParaRPr lang="en-US" sz="1000" dirty="0">
                        <a:latin typeface="Courier New" charset="0"/>
                        <a:ea typeface="Courier New" charset="0"/>
                        <a:cs typeface="Courier New"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1118"/>
                    </a:solidFill>
                  </a:tcPr>
                </a:tc>
                <a:tc>
                  <a:txBody>
                    <a:bodyPr/>
                    <a:lstStyle/>
                    <a:p>
                      <a:pPr algn="ctr" indent="0" marL="0">
                        <a:buNone/>
                      </a:pPr>
                      <a:r>
                        <a:rPr lang="en-US" sz="1000" b="1" dirty="0">
                          <a:solidFill>
                            <a:srgbClr val="00E5A0"/>
                          </a:solidFill>
                          <a:latin typeface="Courier New" pitchFamily="34" charset="0"/>
                          <a:ea typeface="Courier New" pitchFamily="34" charset="-122"/>
                          <a:cs typeface="Courier New" pitchFamily="34" charset="-120"/>
                        </a:rPr>
                        <a:t>1% Risk</a:t>
                      </a:r>
                      <a:endParaRPr lang="en-US" sz="1000" dirty="0">
                        <a:latin typeface="Courier New" charset="0"/>
                        <a:ea typeface="Courier New" charset="0"/>
                        <a:cs typeface="Courier New"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1118"/>
                    </a:solidFill>
                  </a:tcPr>
                </a:tc>
                <a:tc>
                  <a:txBody>
                    <a:bodyPr/>
                    <a:lstStyle/>
                    <a:p>
                      <a:pPr algn="ctr" indent="0" marL="0">
                        <a:buNone/>
                      </a:pPr>
                      <a:r>
                        <a:rPr lang="en-US" sz="1000" b="1" dirty="0">
                          <a:solidFill>
                            <a:srgbClr val="00E5A0"/>
                          </a:solidFill>
                          <a:latin typeface="Courier New" pitchFamily="34" charset="0"/>
                          <a:ea typeface="Courier New" pitchFamily="34" charset="-122"/>
                          <a:cs typeface="Courier New" pitchFamily="34" charset="-120"/>
                        </a:rPr>
                        <a:t>2% Risk</a:t>
                      </a:r>
                      <a:endParaRPr lang="en-US" sz="1000" dirty="0">
                        <a:latin typeface="Courier New" charset="0"/>
                        <a:ea typeface="Courier New" charset="0"/>
                        <a:cs typeface="Courier New"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1118"/>
                    </a:solidFill>
                  </a:tcPr>
                </a:tc>
                <a:tc>
                  <a:txBody>
                    <a:bodyPr/>
                    <a:lstStyle/>
                    <a:p>
                      <a:pPr algn="ctr" indent="0" marL="0">
                        <a:buNone/>
                      </a:pPr>
                      <a:r>
                        <a:rPr lang="en-US" sz="1000" b="1" dirty="0">
                          <a:solidFill>
                            <a:srgbClr val="00E5A0"/>
                          </a:solidFill>
                          <a:latin typeface="Courier New" pitchFamily="34" charset="0"/>
                          <a:ea typeface="Courier New" pitchFamily="34" charset="-122"/>
                          <a:cs typeface="Courier New" pitchFamily="34" charset="-120"/>
                        </a:rPr>
                        <a:t>Max Position (2% SL)</a:t>
                      </a:r>
                      <a:endParaRPr lang="en-US" sz="1000" dirty="0">
                        <a:latin typeface="Courier New" charset="0"/>
                        <a:ea typeface="Courier New" charset="0"/>
                        <a:cs typeface="Courier New"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1118"/>
                    </a:solidFill>
                  </a:tcPr>
                </a:tc>
                <a:tc>
                  <a:txBody>
                    <a:bodyPr/>
                    <a:lstStyle/>
                    <a:p>
                      <a:pPr algn="ctr" indent="0" marL="0">
                        <a:buNone/>
                      </a:pPr>
                      <a:r>
                        <a:rPr lang="en-US" sz="1000" b="1" dirty="0">
                          <a:solidFill>
                            <a:srgbClr val="00E5A0"/>
                          </a:solidFill>
                          <a:latin typeface="Courier New" pitchFamily="34" charset="0"/>
                          <a:ea typeface="Courier New" pitchFamily="34" charset="-122"/>
                          <a:cs typeface="Courier New" pitchFamily="34" charset="-120"/>
                        </a:rPr>
                        <a:t>Recommended</a:t>
                      </a:r>
                      <a:endParaRPr lang="en-US" sz="1000" dirty="0">
                        <a:latin typeface="Courier New" charset="0"/>
                        <a:ea typeface="Courier New" charset="0"/>
                        <a:cs typeface="Courier New" charset="0"/>
                      </a:endParaRPr>
                    </a:p>
                  </a:txBody>
                  <a:tcPr marL="91440" marR="91440" marT="45720" marB="45720">
                    <a:lnL w="6350" cap="flat" cmpd="sng" algn="ctr">
                      <a:solidFill>
                        <a:srgbClr val="444444"/>
                      </a:solidFill>
                      <a:prstDash val="solid"/>
                      <a:round/>
                      <a:headEnd type="none" w="med" len="med"/>
                      <a:tailEnd type="none" w="med" len="med"/>
                    </a:lnL>
                    <a:lnR w="6350" cap="flat" cmpd="sng" algn="ctr">
                      <a:solidFill>
                        <a:srgbClr val="444444"/>
                      </a:solidFill>
                      <a:prstDash val="solid"/>
                      <a:round/>
                      <a:headEnd type="none" w="med" len="med"/>
                      <a:tailEnd type="none" w="med" len="med"/>
                    </a:lnR>
                    <a:lnT w="6350" cap="flat" cmpd="sng" algn="ctr">
                      <a:solidFill>
                        <a:srgbClr val="444444"/>
                      </a:solidFill>
                      <a:prstDash val="solid"/>
                      <a:round/>
                      <a:headEnd type="none" w="med" len="med"/>
                      <a:tailEnd type="none" w="med" len="med"/>
                    </a:lnT>
                    <a:lnB w="6350" cap="flat" cmpd="sng" algn="ctr">
                      <a:solidFill>
                        <a:srgbClr val="444444"/>
                      </a:solidFill>
                      <a:prstDash val="solid"/>
                      <a:round/>
                      <a:headEnd type="none" w="med" len="med"/>
                      <a:tailEnd type="none" w="med" len="med"/>
                    </a:lnB>
                    <a:solidFill>
                      <a:srgbClr val="111118"/>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$500-1,000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$5,000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$2,500-5,000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$10,000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$5,000-10,000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1-2%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$25,000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$250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$12,500-25,000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$50,000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$25,000-50,000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0.5-1%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A0A12"/>
                    </a:solidFill>
                  </a:tcPr>
                </a:tc>
              </a:tr>
              <a:tr h="347472">
                <a:tc>
                  <a:txBody>
                    <a:bodyPr/>
                    <a:lstStyle/>
                    <a:p>
                      <a:pPr algn="ctr" indent="0" marL="0">
                        <a:buNone/>
                      </a:pPr>
                      <a:r>
                        <a:rPr lang="en-US" sz="1000" dirty="0">
                          <a:solidFill>
                            <a:srgbClr val="FFFFFF"/>
                          </a:solidFill>
                          <a:latin typeface="Courier New" pitchFamily="34" charset="0"/>
                          <a:ea typeface="Courier New" pitchFamily="34" charset="-122"/>
                          <a:cs typeface="Courier New" pitchFamily="34" charset="-120"/>
                        </a:rPr>
                        <a:t>$100,000</a:t>
                      </a:r>
                      <a:endParaRPr lang="en-US" sz="1000" dirty="0">
                        <a:latin typeface="Courier New" charset="0"/>
                        <a:ea typeface="Courier New" charset="0"/>
                        <a:cs typeface="Courier New"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$2,000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$50,000-100,000</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c>
                  <a:txBody>
                    <a:bodyPr/>
                    <a:lstStyle/>
                    <a:p>
                      <a:pPr algn="ctr" indent="0" marL="0">
                        <a:buNone/>
                      </a:pPr>
                      <a:r>
                        <a:rPr lang="en-US" sz="1000" dirty="0">
                          <a:solidFill>
                            <a:srgbClr val="C8C8C8"/>
                          </a:solidFill>
                          <a:latin typeface="Calibri" pitchFamily="34" charset="0"/>
                          <a:ea typeface="Calibri" pitchFamily="34" charset="-122"/>
                          <a:cs typeface="Calibri" pitchFamily="34" charset="-120"/>
                        </a:rPr>
                        <a:t>0.5% risk</a:t>
                      </a:r>
                      <a:endParaRPr lang="en-US" sz="1000" dirty="0">
                        <a:latin typeface="Calibri" charset="0"/>
                        <a:ea typeface="Calibri" charset="0"/>
                        <a:cs typeface="Calibri" charset="0"/>
                      </a:endParaRPr>
                    </a:p>
                  </a:txBody>
                  <a:tcPr marL="91440" marR="91440" marT="45720" marB="45720">
                    <a:lnL w="3810" cap="flat" cmpd="sng" algn="ctr">
                      <a:solidFill>
                        <a:srgbClr val="1A1A24"/>
                      </a:solidFill>
                      <a:prstDash val="solid"/>
                      <a:round/>
                      <a:headEnd type="none" w="med" len="med"/>
                      <a:tailEnd type="none" w="med" len="med"/>
                    </a:lnL>
                    <a:lnR w="3810" cap="flat" cmpd="sng" algn="ctr">
                      <a:solidFill>
                        <a:srgbClr val="1A1A24"/>
                      </a:solidFill>
                      <a:prstDash val="solid"/>
                      <a:round/>
                      <a:headEnd type="none" w="med" len="med"/>
                      <a:tailEnd type="none" w="med" len="med"/>
                    </a:lnR>
                    <a:lnT w="3810" cap="flat" cmpd="sng" algn="ctr">
                      <a:solidFill>
                        <a:srgbClr val="1A1A24"/>
                      </a:solidFill>
                      <a:prstDash val="solid"/>
                      <a:round/>
                      <a:headEnd type="none" w="med" len="med"/>
                      <a:tailEnd type="none" w="med" len="med"/>
                    </a:lnT>
                    <a:lnB w="3810" cap="flat" cmpd="sng" algn="ctr">
                      <a:solidFill>
                        <a:srgbClr val="1A1A24"/>
                      </a:solidFill>
                      <a:prstDash val="solid"/>
                      <a:round/>
                      <a:headEnd type="none" w="med" len="med"/>
                      <a:tailEnd type="none" w="med" len="med"/>
                    </a:lnB>
                    <a:solidFill>
                      <a:srgbClr val="0D0D14"/>
                    </a:solidFill>
                  </a:tcPr>
                </a:tc>
              </a:tr>
            </a:tbl>
          </a:graphicData>
        </a:graphic>
      </p:graphicFrame>
      <p:sp>
        <p:nvSpPr>
          <p:cNvPr id="7" name="Shape 4"/>
          <p:cNvSpPr/>
          <p:nvPr/>
        </p:nvSpPr>
        <p:spPr>
          <a:xfrm>
            <a:off x="548640" y="4160520"/>
            <a:ext cx="8046720" cy="685800"/>
          </a:xfrm>
          <a:prstGeom prst="rect">
            <a:avLst/>
          </a:prstGeom>
          <a:solidFill>
            <a:srgbClr val="0D0D14"/>
          </a:solidFill>
          <a:ln w="3810">
            <a:solidFill>
              <a:srgbClr val="00E5A0"/>
            </a:solidFill>
            <a:prstDash val="solid"/>
          </a:ln>
        </p:spPr>
      </p:sp>
      <p:pic>
        <p:nvPicPr>
          <p:cNvPr id="8" name="Image 0" descr="preencoded.png">    </p:cNvPr>
          <p:cNvPicPr>
            <a:picLocks noChangeAspect="1"/>
          </p:cNvPicPr>
          <p:nvPr/>
        </p:nvPicPr>
        <p:blipFill>
          <a:blip r:embed="rId1"/>
          <a:stretch>
            <a:fillRect/>
          </a:stretch>
        </p:blipFill>
        <p:spPr>
          <a:xfrm>
            <a:off x="777240" y="4251960"/>
            <a:ext cx="320040" cy="320040"/>
          </a:xfrm>
          <a:prstGeom prst="rect">
            <a:avLst/>
          </a:prstGeom>
        </p:spPr>
      </p:pic>
      <p:sp>
        <p:nvSpPr>
          <p:cNvPr id="9" name="Text 5"/>
          <p:cNvSpPr/>
          <p:nvPr/>
        </p:nvSpPr>
        <p:spPr>
          <a:xfrm>
            <a:off x="1234440" y="4187952"/>
            <a:ext cx="2743200" cy="274320"/>
          </a:xfrm>
          <a:prstGeom prst="rect">
            <a:avLst/>
          </a:prstGeom>
          <a:noFill/>
          <a:ln/>
        </p:spPr>
        <p:txBody>
          <a:bodyPr wrap="square" lIns="0" tIns="0" rIns="0" bIns="0"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Pro Tip: Start Conservative</a:t>
            </a:r>
            <a:endParaRPr lang="en-US" sz="1200" dirty="0"/>
          </a:p>
        </p:txBody>
      </p:sp>
      <p:sp>
        <p:nvSpPr>
          <p:cNvPr id="10" name="Text 6"/>
          <p:cNvSpPr/>
          <p:nvPr/>
        </p:nvSpPr>
        <p:spPr>
          <a:xfrm>
            <a:off x="1234440" y="4462272"/>
            <a:ext cx="7132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Start with 0.5-1% risk until you trust the system with your own money. You can always size up later. You can never un-blow an account.</a:t>
            </a:r>
            <a:endParaRPr lang="en-US" sz="1000" dirty="0"/>
          </a:p>
        </p:txBody>
      </p:sp>
      <p:sp>
        <p:nvSpPr>
          <p:cNvPr id="11" name="Text 7"/>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274320"/>
            <a:ext cx="914400" cy="457200"/>
          </a:xfrm>
          <a:prstGeom prst="rect">
            <a:avLst/>
          </a:prstGeom>
          <a:noFill/>
          <a:ln/>
        </p:spPr>
        <p:txBody>
          <a:bodyPr wrap="square" lIns="0" tIns="0" rIns="0" bIns="0" rtlCol="0" anchor="ctr"/>
          <a:lstStyle/>
          <a:p>
            <a:pPr indent="0" marL="0">
              <a:buNone/>
            </a:pPr>
            <a:r>
              <a:rPr lang="en-US" sz="3600" b="1" dirty="0">
                <a:solidFill>
                  <a:srgbClr val="00E5A0"/>
                </a:solidFill>
                <a:latin typeface="Courier New" pitchFamily="34" charset="0"/>
                <a:ea typeface="Courier New" pitchFamily="34" charset="-122"/>
                <a:cs typeface="Courier New" pitchFamily="34" charset="-120"/>
              </a:rPr>
              <a:t>07</a:t>
            </a:r>
            <a:endParaRPr lang="en-US" sz="3600" dirty="0"/>
          </a:p>
        </p:txBody>
      </p:sp>
      <p:sp>
        <p:nvSpPr>
          <p:cNvPr id="3" name="Text 1"/>
          <p:cNvSpPr/>
          <p:nvPr/>
        </p:nvSpPr>
        <p:spPr>
          <a:xfrm>
            <a:off x="548640" y="685800"/>
            <a:ext cx="7315200" cy="457200"/>
          </a:xfrm>
          <a:prstGeom prst="rect">
            <a:avLst/>
          </a:prstGeom>
          <a:noFill/>
          <a:ln/>
        </p:spPr>
        <p:txBody>
          <a:bodyPr wrap="square" lIns="0" tIns="0" rIns="0" bIns="0" rtlCol="0" anchor="ctr"/>
          <a:lstStyle/>
          <a:p>
            <a:pPr indent="0" marL="0">
              <a:buNone/>
            </a:pPr>
            <a:r>
              <a:rPr lang="en-US" sz="2600" b="1" dirty="0">
                <a:solidFill>
                  <a:srgbClr val="FFFFFF"/>
                </a:solidFill>
                <a:latin typeface="Georgia" pitchFamily="34" charset="0"/>
                <a:ea typeface="Georgia" pitchFamily="34" charset="-122"/>
                <a:cs typeface="Georgia" pitchFamily="34" charset="-120"/>
              </a:rPr>
              <a:t>The Results: 624 Trades, Full Transparency</a:t>
            </a:r>
            <a:endParaRPr lang="en-US" sz="2600" dirty="0"/>
          </a:p>
        </p:txBody>
      </p:sp>
      <p:sp>
        <p:nvSpPr>
          <p:cNvPr id="4" name="Shape 2"/>
          <p:cNvSpPr/>
          <p:nvPr/>
        </p:nvSpPr>
        <p:spPr>
          <a:xfrm>
            <a:off x="548640" y="1188720"/>
            <a:ext cx="1828800" cy="13716"/>
          </a:xfrm>
          <a:prstGeom prst="rect">
            <a:avLst/>
          </a:prstGeom>
          <a:solidFill>
            <a:srgbClr val="00E5A0">
              <a:alpha val="50000"/>
            </a:srgbClr>
          </a:solidFill>
          <a:ln/>
        </p:spPr>
      </p:sp>
      <p:sp>
        <p:nvSpPr>
          <p:cNvPr id="5" name="Shape 3"/>
          <p:cNvSpPr/>
          <p:nvPr/>
        </p:nvSpPr>
        <p:spPr>
          <a:xfrm>
            <a:off x="548640" y="1417320"/>
            <a:ext cx="1874520" cy="100584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6" name="Text 4"/>
          <p:cNvSpPr/>
          <p:nvPr/>
        </p:nvSpPr>
        <p:spPr>
          <a:xfrm>
            <a:off x="548640" y="1508760"/>
            <a:ext cx="1874520" cy="502920"/>
          </a:xfrm>
          <a:prstGeom prst="rect">
            <a:avLst/>
          </a:prstGeom>
          <a:noFill/>
          <a:ln/>
        </p:spPr>
        <p:txBody>
          <a:bodyPr wrap="square" lIns="0" tIns="0" rIns="0" bIns="0" rtlCol="0" anchor="ctr"/>
          <a:lstStyle/>
          <a:p>
            <a:pPr algn="ctr" indent="0" marL="0">
              <a:buNone/>
            </a:pPr>
            <a:r>
              <a:rPr lang="en-US" sz="2200" b="1" dirty="0">
                <a:solidFill>
                  <a:srgbClr val="00E5A0"/>
                </a:solidFill>
                <a:latin typeface="Courier New" pitchFamily="34" charset="0"/>
                <a:ea typeface="Courier New" pitchFamily="34" charset="-122"/>
                <a:cs typeface="Courier New" pitchFamily="34" charset="-120"/>
              </a:rPr>
              <a:t>$10K → $218K</a:t>
            </a:r>
            <a:endParaRPr lang="en-US" sz="2200" dirty="0"/>
          </a:p>
        </p:txBody>
      </p:sp>
      <p:sp>
        <p:nvSpPr>
          <p:cNvPr id="7" name="Text 5"/>
          <p:cNvSpPr/>
          <p:nvPr/>
        </p:nvSpPr>
        <p:spPr>
          <a:xfrm>
            <a:off x="548640" y="2011680"/>
            <a:ext cx="1874520" cy="27432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Total Growth</a:t>
            </a:r>
            <a:endParaRPr lang="en-US" sz="900" dirty="0"/>
          </a:p>
        </p:txBody>
      </p:sp>
      <p:sp>
        <p:nvSpPr>
          <p:cNvPr id="8" name="Shape 6"/>
          <p:cNvSpPr/>
          <p:nvPr/>
        </p:nvSpPr>
        <p:spPr>
          <a:xfrm>
            <a:off x="2697480" y="1417320"/>
            <a:ext cx="1874520" cy="100584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9" name="Text 7"/>
          <p:cNvSpPr/>
          <p:nvPr/>
        </p:nvSpPr>
        <p:spPr>
          <a:xfrm>
            <a:off x="2697480" y="1508760"/>
            <a:ext cx="187452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624</a:t>
            </a:r>
            <a:endParaRPr lang="en-US" sz="2200" dirty="0"/>
          </a:p>
        </p:txBody>
      </p:sp>
      <p:sp>
        <p:nvSpPr>
          <p:cNvPr id="10" name="Text 8"/>
          <p:cNvSpPr/>
          <p:nvPr/>
        </p:nvSpPr>
        <p:spPr>
          <a:xfrm>
            <a:off x="2697480" y="2011680"/>
            <a:ext cx="1874520" cy="27432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Total Trades</a:t>
            </a:r>
            <a:endParaRPr lang="en-US" sz="900" dirty="0"/>
          </a:p>
        </p:txBody>
      </p:sp>
      <p:sp>
        <p:nvSpPr>
          <p:cNvPr id="11" name="Shape 9"/>
          <p:cNvSpPr/>
          <p:nvPr/>
        </p:nvSpPr>
        <p:spPr>
          <a:xfrm>
            <a:off x="4846320" y="1417320"/>
            <a:ext cx="1874520" cy="100584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12" name="Text 10"/>
          <p:cNvSpPr/>
          <p:nvPr/>
        </p:nvSpPr>
        <p:spPr>
          <a:xfrm>
            <a:off x="4846320" y="1508760"/>
            <a:ext cx="1874520" cy="502920"/>
          </a:xfrm>
          <a:prstGeom prst="rect">
            <a:avLst/>
          </a:prstGeom>
          <a:noFill/>
          <a:ln/>
        </p:spPr>
        <p:txBody>
          <a:bodyPr wrap="square" lIns="0" tIns="0" rIns="0" bIns="0" rtlCol="0" anchor="ctr"/>
          <a:lstStyle/>
          <a:p>
            <a:pPr algn="ctr" indent="0" marL="0">
              <a:buNone/>
            </a:pPr>
            <a:r>
              <a:rPr lang="en-US" sz="2200" b="1" dirty="0">
                <a:solidFill>
                  <a:srgbClr val="FF9F43"/>
                </a:solidFill>
                <a:latin typeface="Courier New" pitchFamily="34" charset="0"/>
                <a:ea typeface="Courier New" pitchFamily="34" charset="-122"/>
                <a:cs typeface="Courier New" pitchFamily="34" charset="-120"/>
              </a:rPr>
              <a:t>40.7%</a:t>
            </a:r>
            <a:endParaRPr lang="en-US" sz="2200" dirty="0"/>
          </a:p>
        </p:txBody>
      </p:sp>
      <p:sp>
        <p:nvSpPr>
          <p:cNvPr id="13" name="Text 11"/>
          <p:cNvSpPr/>
          <p:nvPr/>
        </p:nvSpPr>
        <p:spPr>
          <a:xfrm>
            <a:off x="4846320" y="2011680"/>
            <a:ext cx="1874520" cy="27432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Win Rate</a:t>
            </a:r>
            <a:endParaRPr lang="en-US" sz="900" dirty="0"/>
          </a:p>
        </p:txBody>
      </p:sp>
      <p:sp>
        <p:nvSpPr>
          <p:cNvPr id="14" name="Shape 12"/>
          <p:cNvSpPr/>
          <p:nvPr/>
        </p:nvSpPr>
        <p:spPr>
          <a:xfrm>
            <a:off x="6995160" y="1417320"/>
            <a:ext cx="1874520" cy="1005840"/>
          </a:xfrm>
          <a:prstGeom prst="rect">
            <a:avLst/>
          </a:prstGeom>
          <a:solidFill>
            <a:srgbClr val="0D0D14"/>
          </a:solidFill>
          <a:ln w="3810">
            <a:solidFill>
              <a:srgbClr val="444444"/>
            </a:solidFill>
            <a:prstDash val="solid"/>
          </a:ln>
          <a:effectLst>
            <a:outerShdw sx="100000" sy="100000" kx="0" ky="0" algn="bl" rotWithShape="0" blurRad="101600" dist="25400" dir="8100000">
              <a:srgbClr val="000000">
                <a:alpha val="30000"/>
              </a:srgbClr>
            </a:outerShdw>
          </a:effectLst>
        </p:spPr>
      </p:sp>
      <p:sp>
        <p:nvSpPr>
          <p:cNvPr id="15" name="Text 13"/>
          <p:cNvSpPr/>
          <p:nvPr/>
        </p:nvSpPr>
        <p:spPr>
          <a:xfrm>
            <a:off x="6995160" y="1508760"/>
            <a:ext cx="1874520" cy="502920"/>
          </a:xfrm>
          <a:prstGeom prst="rect">
            <a:avLst/>
          </a:prstGeom>
          <a:noFill/>
          <a:ln/>
        </p:spPr>
        <p:txBody>
          <a:bodyPr wrap="square" lIns="0" tIns="0" rIns="0" bIns="0" rtlCol="0" anchor="ctr"/>
          <a:lstStyle/>
          <a:p>
            <a:pPr algn="ctr" indent="0" marL="0">
              <a:buNone/>
            </a:pPr>
            <a:r>
              <a:rPr lang="en-US" sz="2200" b="1" dirty="0">
                <a:solidFill>
                  <a:srgbClr val="00E5A0"/>
                </a:solidFill>
                <a:latin typeface="Courier New" pitchFamily="34" charset="0"/>
                <a:ea typeface="Courier New" pitchFamily="34" charset="-122"/>
                <a:cs typeface="Courier New" pitchFamily="34" charset="-120"/>
              </a:rPr>
              <a:t>1.52</a:t>
            </a:r>
            <a:endParaRPr lang="en-US" sz="2200" dirty="0"/>
          </a:p>
        </p:txBody>
      </p:sp>
      <p:sp>
        <p:nvSpPr>
          <p:cNvPr id="16" name="Text 14"/>
          <p:cNvSpPr/>
          <p:nvPr/>
        </p:nvSpPr>
        <p:spPr>
          <a:xfrm>
            <a:off x="6995160" y="2011680"/>
            <a:ext cx="1874520" cy="274320"/>
          </a:xfrm>
          <a:prstGeom prst="rect">
            <a:avLst/>
          </a:prstGeom>
          <a:noFill/>
          <a:ln/>
        </p:spPr>
        <p:txBody>
          <a:bodyPr wrap="square" lIns="0" tIns="0" rIns="0" bIns="0" rtlCol="0" anchor="ctr"/>
          <a:lstStyle/>
          <a:p>
            <a:pPr algn="ctr" indent="0" marL="0">
              <a:buNone/>
            </a:pPr>
            <a:r>
              <a:rPr lang="en-US" sz="900" dirty="0">
                <a:solidFill>
                  <a:srgbClr val="444444"/>
                </a:solidFill>
                <a:latin typeface="Calibri" pitchFamily="34" charset="0"/>
                <a:ea typeface="Calibri" pitchFamily="34" charset="-122"/>
                <a:cs typeface="Calibri" pitchFamily="34" charset="-120"/>
              </a:rPr>
              <a:t>Profit Factor</a:t>
            </a:r>
            <a:endParaRPr lang="en-US" sz="900" dirty="0"/>
          </a:p>
        </p:txBody>
      </p:sp>
      <p:sp>
        <p:nvSpPr>
          <p:cNvPr id="17" name="Text 15"/>
          <p:cNvSpPr/>
          <p:nvPr/>
        </p:nvSpPr>
        <p:spPr>
          <a:xfrm>
            <a:off x="548640" y="2651760"/>
            <a:ext cx="3657600" cy="320040"/>
          </a:xfrm>
          <a:prstGeom prst="rect">
            <a:avLst/>
          </a:prstGeom>
          <a:noFill/>
          <a:ln/>
        </p:spPr>
        <p:txBody>
          <a:bodyPr wrap="square" lIns="0" tIns="0" rIns="0" bIns="0" rtlCol="0" anchor="ctr"/>
          <a:lstStyle/>
          <a:p>
            <a:pPr indent="0" marL="0">
              <a:buNone/>
            </a:pPr>
            <a:r>
              <a:rPr lang="en-US" sz="1400" b="1" dirty="0">
                <a:solidFill>
                  <a:srgbClr val="FFFFFF"/>
                </a:solidFill>
                <a:latin typeface="Georgia" pitchFamily="34" charset="0"/>
                <a:ea typeface="Georgia" pitchFamily="34" charset="-122"/>
                <a:cs typeface="Georgia" pitchFamily="34" charset="-120"/>
              </a:rPr>
              <a:t>Key Statistics</a:t>
            </a:r>
            <a:endParaRPr lang="en-US" sz="1400" dirty="0"/>
          </a:p>
        </p:txBody>
      </p:sp>
      <p:sp>
        <p:nvSpPr>
          <p:cNvPr id="18" name="Shape 16"/>
          <p:cNvSpPr/>
          <p:nvPr/>
        </p:nvSpPr>
        <p:spPr>
          <a:xfrm>
            <a:off x="548640" y="3063240"/>
            <a:ext cx="4023360" cy="320040"/>
          </a:xfrm>
          <a:prstGeom prst="rect">
            <a:avLst/>
          </a:prstGeom>
          <a:solidFill>
            <a:srgbClr val="0A0A12"/>
          </a:solidFill>
          <a:ln/>
        </p:spPr>
      </p:sp>
      <p:sp>
        <p:nvSpPr>
          <p:cNvPr id="19" name="Text 17"/>
          <p:cNvSpPr/>
          <p:nvPr/>
        </p:nvSpPr>
        <p:spPr>
          <a:xfrm>
            <a:off x="685800" y="306324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Average Winning Trade</a:t>
            </a:r>
            <a:endParaRPr lang="en-US" sz="1000" dirty="0"/>
          </a:p>
        </p:txBody>
      </p:sp>
      <p:sp>
        <p:nvSpPr>
          <p:cNvPr id="20" name="Text 18"/>
          <p:cNvSpPr/>
          <p:nvPr/>
        </p:nvSpPr>
        <p:spPr>
          <a:xfrm>
            <a:off x="3291840" y="306324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+3.2%</a:t>
            </a:r>
            <a:endParaRPr lang="en-US" sz="1000" dirty="0"/>
          </a:p>
        </p:txBody>
      </p:sp>
      <p:sp>
        <p:nvSpPr>
          <p:cNvPr id="21" name="Shape 19"/>
          <p:cNvSpPr/>
          <p:nvPr/>
        </p:nvSpPr>
        <p:spPr>
          <a:xfrm>
            <a:off x="548640" y="3429000"/>
            <a:ext cx="4023360" cy="320040"/>
          </a:xfrm>
          <a:prstGeom prst="rect">
            <a:avLst/>
          </a:prstGeom>
          <a:solidFill>
            <a:srgbClr val="0D0D14"/>
          </a:solidFill>
          <a:ln/>
        </p:spPr>
      </p:sp>
      <p:sp>
        <p:nvSpPr>
          <p:cNvPr id="22" name="Text 20"/>
          <p:cNvSpPr/>
          <p:nvPr/>
        </p:nvSpPr>
        <p:spPr>
          <a:xfrm>
            <a:off x="685800" y="342900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Average Losing Trade</a:t>
            </a:r>
            <a:endParaRPr lang="en-US" sz="1000" dirty="0"/>
          </a:p>
        </p:txBody>
      </p:sp>
      <p:sp>
        <p:nvSpPr>
          <p:cNvPr id="23" name="Text 21"/>
          <p:cNvSpPr/>
          <p:nvPr/>
        </p:nvSpPr>
        <p:spPr>
          <a:xfrm>
            <a:off x="3291840" y="342900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-1.4%</a:t>
            </a:r>
            <a:endParaRPr lang="en-US" sz="1000" dirty="0"/>
          </a:p>
        </p:txBody>
      </p:sp>
      <p:sp>
        <p:nvSpPr>
          <p:cNvPr id="24" name="Shape 22"/>
          <p:cNvSpPr/>
          <p:nvPr/>
        </p:nvSpPr>
        <p:spPr>
          <a:xfrm>
            <a:off x="548640" y="3794760"/>
            <a:ext cx="4023360" cy="320040"/>
          </a:xfrm>
          <a:prstGeom prst="rect">
            <a:avLst/>
          </a:prstGeom>
          <a:solidFill>
            <a:srgbClr val="0A0A12"/>
          </a:solidFill>
          <a:ln/>
        </p:spPr>
      </p:sp>
      <p:sp>
        <p:nvSpPr>
          <p:cNvPr id="25" name="Text 23"/>
          <p:cNvSpPr/>
          <p:nvPr/>
        </p:nvSpPr>
        <p:spPr>
          <a:xfrm>
            <a:off x="685800" y="379476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Average Trades/Day</a:t>
            </a:r>
            <a:endParaRPr lang="en-US" sz="1000" dirty="0"/>
          </a:p>
        </p:txBody>
      </p:sp>
      <p:sp>
        <p:nvSpPr>
          <p:cNvPr id="26" name="Text 24"/>
          <p:cNvSpPr/>
          <p:nvPr/>
        </p:nvSpPr>
        <p:spPr>
          <a:xfrm>
            <a:off x="3291840" y="379476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2.8</a:t>
            </a:r>
            <a:endParaRPr lang="en-US" sz="1000" dirty="0"/>
          </a:p>
        </p:txBody>
      </p:sp>
      <p:sp>
        <p:nvSpPr>
          <p:cNvPr id="27" name="Shape 25"/>
          <p:cNvSpPr/>
          <p:nvPr/>
        </p:nvSpPr>
        <p:spPr>
          <a:xfrm>
            <a:off x="548640" y="4160520"/>
            <a:ext cx="4023360" cy="320040"/>
          </a:xfrm>
          <a:prstGeom prst="rect">
            <a:avLst/>
          </a:prstGeom>
          <a:solidFill>
            <a:srgbClr val="0D0D14"/>
          </a:solidFill>
          <a:ln/>
        </p:spPr>
      </p:sp>
      <p:sp>
        <p:nvSpPr>
          <p:cNvPr id="28" name="Text 26"/>
          <p:cNvSpPr/>
          <p:nvPr/>
        </p:nvSpPr>
        <p:spPr>
          <a:xfrm>
            <a:off x="685800" y="416052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Maximum Drawdown</a:t>
            </a:r>
            <a:endParaRPr lang="en-US" sz="1000" dirty="0"/>
          </a:p>
        </p:txBody>
      </p:sp>
      <p:sp>
        <p:nvSpPr>
          <p:cNvPr id="29" name="Text 27"/>
          <p:cNvSpPr/>
          <p:nvPr/>
        </p:nvSpPr>
        <p:spPr>
          <a:xfrm>
            <a:off x="3291840" y="416052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-12.4%</a:t>
            </a:r>
            <a:endParaRPr lang="en-US" sz="1000" dirty="0"/>
          </a:p>
        </p:txBody>
      </p:sp>
      <p:sp>
        <p:nvSpPr>
          <p:cNvPr id="30" name="Shape 28"/>
          <p:cNvSpPr/>
          <p:nvPr/>
        </p:nvSpPr>
        <p:spPr>
          <a:xfrm>
            <a:off x="4846320" y="3063240"/>
            <a:ext cx="4023360" cy="320040"/>
          </a:xfrm>
          <a:prstGeom prst="rect">
            <a:avLst/>
          </a:prstGeom>
          <a:solidFill>
            <a:srgbClr val="0A0A12"/>
          </a:solidFill>
          <a:ln/>
        </p:spPr>
      </p:sp>
      <p:sp>
        <p:nvSpPr>
          <p:cNvPr id="31" name="Text 29"/>
          <p:cNvSpPr/>
          <p:nvPr/>
        </p:nvSpPr>
        <p:spPr>
          <a:xfrm>
            <a:off x="4983480" y="306324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Sharpe Ratio</a:t>
            </a:r>
            <a:endParaRPr lang="en-US" sz="1000" dirty="0"/>
          </a:p>
        </p:txBody>
      </p:sp>
      <p:sp>
        <p:nvSpPr>
          <p:cNvPr id="32" name="Text 30"/>
          <p:cNvSpPr/>
          <p:nvPr/>
        </p:nvSpPr>
        <p:spPr>
          <a:xfrm>
            <a:off x="7589520" y="306324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2.1</a:t>
            </a:r>
            <a:endParaRPr lang="en-US" sz="1000" dirty="0"/>
          </a:p>
        </p:txBody>
      </p:sp>
      <p:sp>
        <p:nvSpPr>
          <p:cNvPr id="33" name="Shape 31"/>
          <p:cNvSpPr/>
          <p:nvPr/>
        </p:nvSpPr>
        <p:spPr>
          <a:xfrm>
            <a:off x="4846320" y="3429000"/>
            <a:ext cx="4023360" cy="320040"/>
          </a:xfrm>
          <a:prstGeom prst="rect">
            <a:avLst/>
          </a:prstGeom>
          <a:solidFill>
            <a:srgbClr val="0D0D14"/>
          </a:solidFill>
          <a:ln/>
        </p:spPr>
      </p:sp>
      <p:sp>
        <p:nvSpPr>
          <p:cNvPr id="34" name="Text 32"/>
          <p:cNvSpPr/>
          <p:nvPr/>
        </p:nvSpPr>
        <p:spPr>
          <a:xfrm>
            <a:off x="4983480" y="342900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Expectancy per Trade</a:t>
            </a:r>
            <a:endParaRPr lang="en-US" sz="1000" dirty="0"/>
          </a:p>
        </p:txBody>
      </p:sp>
      <p:sp>
        <p:nvSpPr>
          <p:cNvPr id="35" name="Text 33"/>
          <p:cNvSpPr/>
          <p:nvPr/>
        </p:nvSpPr>
        <p:spPr>
          <a:xfrm>
            <a:off x="7589520" y="342900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+0.47%</a:t>
            </a:r>
            <a:endParaRPr lang="en-US" sz="1000" dirty="0"/>
          </a:p>
        </p:txBody>
      </p:sp>
      <p:sp>
        <p:nvSpPr>
          <p:cNvPr id="36" name="Shape 34"/>
          <p:cNvSpPr/>
          <p:nvPr/>
        </p:nvSpPr>
        <p:spPr>
          <a:xfrm>
            <a:off x="4846320" y="3794760"/>
            <a:ext cx="4023360" cy="320040"/>
          </a:xfrm>
          <a:prstGeom prst="rect">
            <a:avLst/>
          </a:prstGeom>
          <a:solidFill>
            <a:srgbClr val="0A0A12"/>
          </a:solidFill>
          <a:ln/>
        </p:spPr>
      </p:sp>
      <p:sp>
        <p:nvSpPr>
          <p:cNvPr id="37" name="Text 35"/>
          <p:cNvSpPr/>
          <p:nvPr/>
        </p:nvSpPr>
        <p:spPr>
          <a:xfrm>
            <a:off x="4983480" y="379476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Longest Winning Streak</a:t>
            </a:r>
            <a:endParaRPr lang="en-US" sz="1000" dirty="0"/>
          </a:p>
        </p:txBody>
      </p:sp>
      <p:sp>
        <p:nvSpPr>
          <p:cNvPr id="38" name="Text 36"/>
          <p:cNvSpPr/>
          <p:nvPr/>
        </p:nvSpPr>
        <p:spPr>
          <a:xfrm>
            <a:off x="7589520" y="379476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8 trades</a:t>
            </a:r>
            <a:endParaRPr lang="en-US" sz="1000" dirty="0"/>
          </a:p>
        </p:txBody>
      </p:sp>
      <p:sp>
        <p:nvSpPr>
          <p:cNvPr id="39" name="Shape 37"/>
          <p:cNvSpPr/>
          <p:nvPr/>
        </p:nvSpPr>
        <p:spPr>
          <a:xfrm>
            <a:off x="4846320" y="4160520"/>
            <a:ext cx="4023360" cy="320040"/>
          </a:xfrm>
          <a:prstGeom prst="rect">
            <a:avLst/>
          </a:prstGeom>
          <a:solidFill>
            <a:srgbClr val="0D0D14"/>
          </a:solidFill>
          <a:ln/>
        </p:spPr>
      </p:sp>
      <p:sp>
        <p:nvSpPr>
          <p:cNvPr id="40" name="Text 38"/>
          <p:cNvSpPr/>
          <p:nvPr/>
        </p:nvSpPr>
        <p:spPr>
          <a:xfrm>
            <a:off x="4983480" y="4160520"/>
            <a:ext cx="2560320" cy="320040"/>
          </a:xfrm>
          <a:prstGeom prst="rect">
            <a:avLst/>
          </a:prstGeom>
          <a:noFill/>
          <a:ln/>
        </p:spPr>
        <p:txBody>
          <a:bodyPr wrap="square" lIns="0" tIns="0" rIns="0" bIns="0" rtlCol="0" anchor="ctr"/>
          <a:lstStyle/>
          <a:p>
            <a:pPr indent="0" marL="0">
              <a:buNone/>
            </a:pPr>
            <a:r>
              <a:rPr lang="en-US" sz="1000" dirty="0">
                <a:solidFill>
                  <a:srgbClr val="888888"/>
                </a:solidFill>
                <a:latin typeface="Calibri" pitchFamily="34" charset="0"/>
                <a:ea typeface="Calibri" pitchFamily="34" charset="-122"/>
                <a:cs typeface="Calibri" pitchFamily="34" charset="-120"/>
              </a:rPr>
              <a:t>Longest Losing Streak</a:t>
            </a:r>
            <a:endParaRPr lang="en-US" sz="1000" dirty="0"/>
          </a:p>
        </p:txBody>
      </p:sp>
      <p:sp>
        <p:nvSpPr>
          <p:cNvPr id="41" name="Text 39"/>
          <p:cNvSpPr/>
          <p:nvPr/>
        </p:nvSpPr>
        <p:spPr>
          <a:xfrm>
            <a:off x="7589520" y="4160520"/>
            <a:ext cx="1097280" cy="320040"/>
          </a:xfrm>
          <a:prstGeom prst="rect">
            <a:avLst/>
          </a:prstGeom>
          <a:noFill/>
          <a:ln/>
        </p:spPr>
        <p:txBody>
          <a:bodyPr wrap="square" lIns="0" tIns="0" rIns="0" bIns="0" rtlCol="0" anchor="ctr"/>
          <a:lstStyle/>
          <a:p>
            <a:pPr algn="r" indent="0" marL="0">
              <a:buNone/>
            </a:pPr>
            <a:r>
              <a:rPr lang="en-US" sz="1000" b="1" dirty="0">
                <a:solidFill>
                  <a:srgbClr val="00E5A0"/>
                </a:solidFill>
                <a:latin typeface="Courier New" pitchFamily="34" charset="0"/>
                <a:ea typeface="Courier New" pitchFamily="34" charset="-122"/>
                <a:cs typeface="Courier New" pitchFamily="34" charset="-120"/>
              </a:rPr>
              <a:t>11 trades</a:t>
            </a:r>
            <a:endParaRPr lang="en-US" sz="1000" dirty="0"/>
          </a:p>
        </p:txBody>
      </p:sp>
      <p:sp>
        <p:nvSpPr>
          <p:cNvPr id="42" name="Text 40"/>
          <p:cNvSpPr/>
          <p:nvPr/>
        </p:nvSpPr>
        <p:spPr>
          <a:xfrm>
            <a:off x="548640" y="4617720"/>
            <a:ext cx="7772400" cy="228600"/>
          </a:xfrm>
          <a:prstGeom prst="rect">
            <a:avLst/>
          </a:prstGeom>
          <a:noFill/>
          <a:ln/>
        </p:spPr>
        <p:txBody>
          <a:bodyPr wrap="square" rtlCol="0" anchor="ctr"/>
          <a:lstStyle/>
          <a:p>
            <a:pPr indent="0" marL="0">
              <a:buNone/>
            </a:pPr>
            <a:r>
              <a:rPr lang="en-US" sz="1000" i="1" dirty="0">
                <a:solidFill>
                  <a:srgbClr val="444444"/>
                </a:solidFill>
                <a:latin typeface="Calibri" pitchFamily="34" charset="0"/>
                <a:ea typeface="Calibri" pitchFamily="34" charset="-122"/>
                <a:cs typeface="Calibri" pitchFamily="34" charset="-120"/>
              </a:rPr>
              <a:t>Every trade is published in real-time. No cherry-picking. No editing history. Verify anytime.</a:t>
            </a:r>
            <a:endParaRPr lang="en-US" sz="1000" dirty="0"/>
          </a:p>
        </p:txBody>
      </p:sp>
      <p:sp>
        <p:nvSpPr>
          <p:cNvPr id="43" name="Text 41"/>
          <p:cNvSpPr/>
          <p:nvPr/>
        </p:nvSpPr>
        <p:spPr>
          <a:xfrm>
            <a:off x="8229600" y="4754880"/>
            <a:ext cx="640080" cy="274320"/>
          </a:xfrm>
          <a:prstGeom prst="rect">
            <a:avLst/>
          </a:prstGeom>
          <a:noFill/>
          <a:ln/>
        </p:spPr>
        <p:txBody>
          <a:bodyPr wrap="square" rtlCol="0" anchor="ctr"/>
          <a:lstStyle/>
          <a:p>
            <a:pPr algn="r" indent="0" marL="0">
              <a:buNone/>
            </a:pPr>
            <a:r>
              <a:rPr lang="en-US" sz="800" dirty="0">
                <a:solidFill>
                  <a:srgbClr val="444444"/>
                </a:solidFill>
                <a:latin typeface="Courier New" pitchFamily="34" charset="0"/>
                <a:ea typeface="Courier New" pitchFamily="34" charset="-122"/>
                <a:cs typeface="Courier New" pitchFamily="34" charset="-120"/>
              </a:rPr>
              <a:t>08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9144000" cy="27432"/>
          </a:xfrm>
          <a:prstGeom prst="rect">
            <a:avLst/>
          </a:prstGeom>
          <a:solidFill>
            <a:srgbClr val="00E5A0">
              <a:alpha val="40000"/>
            </a:srgbClr>
          </a:solidFill>
          <a:ln/>
        </p:spPr>
      </p:sp>
      <p:sp>
        <p:nvSpPr>
          <p:cNvPr id="3" name="Text 1"/>
          <p:cNvSpPr/>
          <p:nvPr/>
        </p:nvSpPr>
        <p:spPr>
          <a:xfrm>
            <a:off x="731520" y="1097280"/>
            <a:ext cx="768096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Want This Done For You?</a:t>
            </a:r>
            <a:endParaRPr lang="en-US" sz="3600" dirty="0"/>
          </a:p>
        </p:txBody>
      </p:sp>
      <p:sp>
        <p:nvSpPr>
          <p:cNvPr id="4" name="Text 2"/>
          <p:cNvSpPr/>
          <p:nvPr/>
        </p:nvSpPr>
        <p:spPr>
          <a:xfrm>
            <a:off x="1371600" y="1828800"/>
            <a:ext cx="6400800" cy="640080"/>
          </a:xfrm>
          <a:prstGeom prst="rect">
            <a:avLst/>
          </a:prstGeom>
          <a:noFill/>
          <a:ln/>
        </p:spPr>
        <p:txBody>
          <a:bodyPr wrap="square" rtlCol="0" anchor="ctr"/>
          <a:lstStyle/>
          <a:p>
            <a:pPr algn="ctr" indent="0" marL="0">
              <a:lnSpc>
                <a:spcPts val="2100"/>
              </a:lnSpc>
              <a:buNone/>
            </a:pPr>
            <a:r>
              <a:rPr lang="en-US" sz="1400" dirty="0">
                <a:solidFill>
                  <a:srgbClr val="888888"/>
                </a:solidFill>
                <a:latin typeface="Calibri" pitchFamily="34" charset="0"/>
                <a:ea typeface="Calibri" pitchFamily="34" charset="-122"/>
                <a:cs typeface="Calibri" pitchFamily="34" charset="-120"/>
              </a:rPr>
              <a:t>You now know the framework. The 5 pairs. The confluence system.</a:t>
            </a:r>
            <a:endParaRPr lang="en-US" sz="1400" dirty="0"/>
          </a:p>
          <a:p>
            <a:pPr algn="ctr" indent="0" marL="0">
              <a:lnSpc>
                <a:spcPts val="2100"/>
              </a:lnSpc>
              <a:buNone/>
            </a:pPr>
            <a:r>
              <a:rPr lang="en-US" sz="1400" dirty="0">
                <a:solidFill>
                  <a:srgbClr val="888888"/>
                </a:solidFill>
                <a:latin typeface="Calibri" pitchFamily="34" charset="0"/>
                <a:ea typeface="Calibri" pitchFamily="34" charset="-122"/>
                <a:cs typeface="Calibri" pitchFamily="34" charset="-120"/>
              </a:rPr>
              <a:t>The position sizing. The math behind why it works.</a:t>
            </a:r>
            <a:endParaRPr lang="en-US" sz="1400" dirty="0"/>
          </a:p>
        </p:txBody>
      </p:sp>
      <p:sp>
        <p:nvSpPr>
          <p:cNvPr id="5" name="Text 3"/>
          <p:cNvSpPr/>
          <p:nvPr/>
        </p:nvSpPr>
        <p:spPr>
          <a:xfrm>
            <a:off x="914400" y="2651760"/>
            <a:ext cx="7315200" cy="365760"/>
          </a:xfrm>
          <a:prstGeom prst="rect">
            <a:avLst/>
          </a:prstGeom>
          <a:noFill/>
          <a:ln/>
        </p:spPr>
        <p:txBody>
          <a:bodyPr wrap="square" rtlCol="0" anchor="ctr"/>
          <a:lstStyle/>
          <a:p>
            <a:pPr algn="ctr" indent="0" marL="0">
              <a:buNone/>
            </a:pPr>
            <a:r>
              <a:rPr lang="en-US" sz="1600" b="1" dirty="0">
                <a:solidFill>
                  <a:srgbClr val="00E5A0"/>
                </a:solidFill>
                <a:latin typeface="Georgia" pitchFamily="34" charset="0"/>
                <a:ea typeface="Georgia" pitchFamily="34" charset="-122"/>
                <a:cs typeface="Georgia" pitchFamily="34" charset="-120"/>
              </a:rPr>
              <a:t>PulseWave Signals runs this exact system 24/7.</a:t>
            </a:r>
            <a:endParaRPr lang="en-US" sz="1600" dirty="0"/>
          </a:p>
        </p:txBody>
      </p:sp>
      <p:pic>
        <p:nvPicPr>
          <p:cNvPr id="6" name="Image 0" descr="preencoded.png">    </p:cNvPr>
          <p:cNvPicPr>
            <a:picLocks noChangeAspect="1"/>
          </p:cNvPicPr>
          <p:nvPr/>
        </p:nvPicPr>
        <p:blipFill>
          <a:blip r:embed="rId2"/>
          <a:stretch>
            <a:fillRect/>
          </a:stretch>
        </p:blipFill>
        <p:spPr>
          <a:xfrm>
            <a:off x="2103120" y="3200400"/>
            <a:ext cx="182880" cy="182880"/>
          </a:xfrm>
          <a:prstGeom prst="rect">
            <a:avLst/>
          </a:prstGeom>
        </p:spPr>
      </p:pic>
      <p:sp>
        <p:nvSpPr>
          <p:cNvPr id="7" name="Text 4"/>
          <p:cNvSpPr/>
          <p:nvPr/>
        </p:nvSpPr>
        <p:spPr>
          <a:xfrm>
            <a:off x="2423160" y="3200400"/>
            <a:ext cx="5029200" cy="256032"/>
          </a:xfrm>
          <a:prstGeom prst="rect">
            <a:avLst/>
          </a:prstGeom>
          <a:noFill/>
          <a:ln/>
        </p:spPr>
        <p:txBody>
          <a:bodyPr wrap="square" lIns="0" tIns="0" rIns="0" bIns="0" rtlCol="0" anchor="ctr"/>
          <a:lstStyle/>
          <a:p>
            <a:pPr indent="0" marL="0">
              <a:buNone/>
            </a:pPr>
            <a:r>
              <a:rPr lang="en-US" sz="1100" dirty="0">
                <a:solidFill>
                  <a:srgbClr val="C8C8C8"/>
                </a:solidFill>
                <a:latin typeface="Calibri" pitchFamily="34" charset="0"/>
                <a:ea typeface="Calibri" pitchFamily="34" charset="-122"/>
                <a:cs typeface="Calibri" pitchFamily="34" charset="-120"/>
              </a:rPr>
              <a:t>Real-time signals on all 5 pairs — entry, SL, TP, position size</a:t>
            </a:r>
            <a:endParaRPr lang="en-US" sz="1100" dirty="0"/>
          </a:p>
        </p:txBody>
      </p:sp>
      <p:pic>
        <p:nvPicPr>
          <p:cNvPr id="8" name="Image 1" descr="preencoded.png">    </p:cNvPr>
          <p:cNvPicPr>
            <a:picLocks noChangeAspect="1"/>
          </p:cNvPicPr>
          <p:nvPr/>
        </p:nvPicPr>
        <p:blipFill>
          <a:blip r:embed="rId3"/>
          <a:stretch>
            <a:fillRect/>
          </a:stretch>
        </p:blipFill>
        <p:spPr>
          <a:xfrm>
            <a:off x="2103120" y="3493008"/>
            <a:ext cx="182880" cy="182880"/>
          </a:xfrm>
          <a:prstGeom prst="rect">
            <a:avLst/>
          </a:prstGeom>
        </p:spPr>
      </p:pic>
      <p:sp>
        <p:nvSpPr>
          <p:cNvPr id="9" name="Text 5"/>
          <p:cNvSpPr/>
          <p:nvPr/>
        </p:nvSpPr>
        <p:spPr>
          <a:xfrm>
            <a:off x="2423160" y="3493008"/>
            <a:ext cx="5029200" cy="256032"/>
          </a:xfrm>
          <a:prstGeom prst="rect">
            <a:avLst/>
          </a:prstGeom>
          <a:noFill/>
          <a:ln/>
        </p:spPr>
        <p:txBody>
          <a:bodyPr wrap="square" lIns="0" tIns="0" rIns="0" bIns="0" rtlCol="0" anchor="ctr"/>
          <a:lstStyle/>
          <a:p>
            <a:pPr indent="0" marL="0">
              <a:buNone/>
            </a:pPr>
            <a:r>
              <a:rPr lang="en-US" sz="1100" dirty="0">
                <a:solidFill>
                  <a:srgbClr val="C8C8C8"/>
                </a:solidFill>
                <a:latin typeface="Calibri" pitchFamily="34" charset="0"/>
                <a:ea typeface="Calibri" pitchFamily="34" charset="-122"/>
                <a:cs typeface="Calibri" pitchFamily="34" charset="-120"/>
              </a:rPr>
              <a:t>Delivered to Telegram and email — trade from anywhere</a:t>
            </a:r>
            <a:endParaRPr lang="en-US" sz="1100" dirty="0"/>
          </a:p>
        </p:txBody>
      </p:sp>
      <p:pic>
        <p:nvPicPr>
          <p:cNvPr id="10" name="Image 2" descr="preencoded.png">    </p:cNvPr>
          <p:cNvPicPr>
            <a:picLocks noChangeAspect="1"/>
          </p:cNvPicPr>
          <p:nvPr/>
        </p:nvPicPr>
        <p:blipFill>
          <a:blip r:embed="rId4"/>
          <a:stretch>
            <a:fillRect/>
          </a:stretch>
        </p:blipFill>
        <p:spPr>
          <a:xfrm>
            <a:off x="2103120" y="3785616"/>
            <a:ext cx="182880" cy="182880"/>
          </a:xfrm>
          <a:prstGeom prst="rect">
            <a:avLst/>
          </a:prstGeom>
        </p:spPr>
      </p:pic>
      <p:sp>
        <p:nvSpPr>
          <p:cNvPr id="11" name="Text 6"/>
          <p:cNvSpPr/>
          <p:nvPr/>
        </p:nvSpPr>
        <p:spPr>
          <a:xfrm>
            <a:off x="2423160" y="3785616"/>
            <a:ext cx="5029200" cy="256032"/>
          </a:xfrm>
          <a:prstGeom prst="rect">
            <a:avLst/>
          </a:prstGeom>
          <a:noFill/>
          <a:ln/>
        </p:spPr>
        <p:txBody>
          <a:bodyPr wrap="square" lIns="0" tIns="0" rIns="0" bIns="0" rtlCol="0" anchor="ctr"/>
          <a:lstStyle/>
          <a:p>
            <a:pPr indent="0" marL="0">
              <a:buNone/>
            </a:pPr>
            <a:r>
              <a:rPr lang="en-US" sz="1100" dirty="0">
                <a:solidFill>
                  <a:srgbClr val="C8C8C8"/>
                </a:solidFill>
                <a:latin typeface="Calibri" pitchFamily="34" charset="0"/>
                <a:ea typeface="Calibri" pitchFamily="34" charset="-122"/>
                <a:cs typeface="Calibri" pitchFamily="34" charset="-120"/>
              </a:rPr>
              <a:t>Every trade published — wins AND losses, full transparency</a:t>
            </a:r>
            <a:endParaRPr lang="en-US" sz="1100" dirty="0"/>
          </a:p>
        </p:txBody>
      </p:sp>
      <p:pic>
        <p:nvPicPr>
          <p:cNvPr id="12" name="Image 3" descr="preencoded.png">    </p:cNvPr>
          <p:cNvPicPr>
            <a:picLocks noChangeAspect="1"/>
          </p:cNvPicPr>
          <p:nvPr/>
        </p:nvPicPr>
        <p:blipFill>
          <a:blip r:embed="rId5"/>
          <a:stretch>
            <a:fillRect/>
          </a:stretch>
        </p:blipFill>
        <p:spPr>
          <a:xfrm>
            <a:off x="2103120" y="4078224"/>
            <a:ext cx="182880" cy="182880"/>
          </a:xfrm>
          <a:prstGeom prst="rect">
            <a:avLst/>
          </a:prstGeom>
        </p:spPr>
      </p:pic>
      <p:sp>
        <p:nvSpPr>
          <p:cNvPr id="13" name="Text 7"/>
          <p:cNvSpPr/>
          <p:nvPr/>
        </p:nvSpPr>
        <p:spPr>
          <a:xfrm>
            <a:off x="2423160" y="4078224"/>
            <a:ext cx="5029200" cy="256032"/>
          </a:xfrm>
          <a:prstGeom prst="rect">
            <a:avLst/>
          </a:prstGeom>
          <a:noFill/>
          <a:ln/>
        </p:spPr>
        <p:txBody>
          <a:bodyPr wrap="square" lIns="0" tIns="0" rIns="0" bIns="0" rtlCol="0" anchor="ctr"/>
          <a:lstStyle/>
          <a:p>
            <a:pPr indent="0" marL="0">
              <a:buNone/>
            </a:pPr>
            <a:r>
              <a:rPr lang="en-US" sz="1100" dirty="0">
                <a:solidFill>
                  <a:srgbClr val="C8C8C8"/>
                </a:solidFill>
                <a:latin typeface="Calibri" pitchFamily="34" charset="0"/>
                <a:ea typeface="Calibri" pitchFamily="34" charset="-122"/>
                <a:cs typeface="Calibri" pitchFamily="34" charset="-120"/>
              </a:rPr>
              <a:t>Private community of 347+ traders using the system</a:t>
            </a:r>
            <a:endParaRPr lang="en-US" sz="1100" dirty="0"/>
          </a:p>
        </p:txBody>
      </p:sp>
      <p:pic>
        <p:nvPicPr>
          <p:cNvPr id="14" name="Image 4" descr="preencoded.png">    </p:cNvPr>
          <p:cNvPicPr>
            <a:picLocks noChangeAspect="1"/>
          </p:cNvPicPr>
          <p:nvPr/>
        </p:nvPicPr>
        <p:blipFill>
          <a:blip r:embed="rId6"/>
          <a:stretch>
            <a:fillRect/>
          </a:stretch>
        </p:blipFill>
        <p:spPr>
          <a:xfrm>
            <a:off x="2103120" y="4370832"/>
            <a:ext cx="182880" cy="182880"/>
          </a:xfrm>
          <a:prstGeom prst="rect">
            <a:avLst/>
          </a:prstGeom>
        </p:spPr>
      </p:pic>
      <p:sp>
        <p:nvSpPr>
          <p:cNvPr id="15" name="Text 8"/>
          <p:cNvSpPr/>
          <p:nvPr/>
        </p:nvSpPr>
        <p:spPr>
          <a:xfrm>
            <a:off x="2423160" y="4370832"/>
            <a:ext cx="5029200" cy="256032"/>
          </a:xfrm>
          <a:prstGeom prst="rect">
            <a:avLst/>
          </a:prstGeom>
          <a:noFill/>
          <a:ln/>
        </p:spPr>
        <p:txBody>
          <a:bodyPr wrap="square" lIns="0" tIns="0" rIns="0" bIns="0" rtlCol="0" anchor="ctr"/>
          <a:lstStyle/>
          <a:p>
            <a:pPr indent="0" marL="0">
              <a:buNone/>
            </a:pPr>
            <a:r>
              <a:rPr lang="en-US" sz="1100" dirty="0">
                <a:solidFill>
                  <a:srgbClr val="C8C8C8"/>
                </a:solidFill>
                <a:latin typeface="Calibri" pitchFamily="34" charset="0"/>
                <a:ea typeface="Calibri" pitchFamily="34" charset="-122"/>
                <a:cs typeface="Calibri" pitchFamily="34" charset="-120"/>
              </a:rPr>
              <a:t>30-day money-back guarantee — risk-free to try</a:t>
            </a:r>
            <a:endParaRPr lang="en-US" sz="1100" dirty="0"/>
          </a:p>
        </p:txBody>
      </p:sp>
      <p:sp>
        <p:nvSpPr>
          <p:cNvPr id="16" name="Shape 9"/>
          <p:cNvSpPr/>
          <p:nvPr/>
        </p:nvSpPr>
        <p:spPr>
          <a:xfrm>
            <a:off x="2743200" y="4617720"/>
            <a:ext cx="3657600" cy="411480"/>
          </a:xfrm>
          <a:prstGeom prst="rect">
            <a:avLst/>
          </a:prstGeom>
          <a:solidFill>
            <a:srgbClr val="00E5A0"/>
          </a:solidFill>
          <a:ln/>
          <a:effectLst>
            <a:outerShdw sx="100000" sy="100000" kx="0" ky="0" algn="bl" rotWithShape="0" blurRad="254000" dist="50800" dir="16200000">
              <a:srgbClr val="00e5a0">
                <a:alpha val="8000"/>
              </a:srgbClr>
            </a:outerShdw>
          </a:effectLst>
        </p:spPr>
      </p:sp>
      <p:sp>
        <p:nvSpPr>
          <p:cNvPr id="17" name="Text 10"/>
          <p:cNvSpPr/>
          <p:nvPr/>
        </p:nvSpPr>
        <p:spPr>
          <a:xfrm>
            <a:off x="2743200" y="4617720"/>
            <a:ext cx="3657600" cy="411480"/>
          </a:xfrm>
          <a:prstGeom prst="rect">
            <a:avLst/>
          </a:prstGeom>
          <a:noFill/>
          <a:ln/>
        </p:spPr>
        <p:txBody>
          <a:bodyPr wrap="square" rtlCol="0" anchor="ctr"/>
          <a:lstStyle/>
          <a:p>
            <a:pPr algn="ctr" indent="0" marL="0">
              <a:buNone/>
            </a:pPr>
            <a:r>
              <a:rPr lang="en-US" sz="1300" b="1" dirty="0">
                <a:solidFill>
                  <a:srgbClr val="06060A"/>
                </a:solidFill>
                <a:latin typeface="Calibri" pitchFamily="34" charset="0"/>
                <a:ea typeface="Calibri" pitchFamily="34" charset="-122"/>
                <a:cs typeface="Calibri" pitchFamily="34" charset="-120"/>
              </a:rPr>
              <a:t>Learn More at pulsewavelabs.io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60A"/>
        </a:solidFill>
      </p:bgPr>
    </p:bg>
    <p:spTree>
      <p:nvGrpSpPr>
        <p:cNvPr id="1" name=""/>
        <p:cNvGrpSpPr/>
        <p:nvPr/>
      </p:nvGrpSpPr>
      <p:grpSpPr>
        <a:xfrm>
          <a:off x="0" y="0"/>
          <a:ext cx="0" cy="0"/>
          <a:chOff x="0" y="0"/>
          <a:chExt cx="0" cy="0"/>
        </a:xfrm>
      </p:grpSpPr>
      <p:sp>
        <p:nvSpPr>
          <p:cNvPr id="2" name="Text 0"/>
          <p:cNvSpPr/>
          <p:nvPr/>
        </p:nvSpPr>
        <p:spPr>
          <a:xfrm>
            <a:off x="548640" y="1371600"/>
            <a:ext cx="8046720" cy="365760"/>
          </a:xfrm>
          <a:prstGeom prst="rect">
            <a:avLst/>
          </a:prstGeom>
          <a:noFill/>
          <a:ln/>
        </p:spPr>
        <p:txBody>
          <a:bodyPr wrap="square" rtlCol="0" anchor="ctr"/>
          <a:lstStyle/>
          <a:p>
            <a:pPr algn="ctr" indent="0" marL="0">
              <a:buNone/>
            </a:pPr>
            <a:r>
              <a:rPr lang="en-US" sz="1200" spc="400" kern="0" dirty="0">
                <a:solidFill>
                  <a:srgbClr val="444444"/>
                </a:solidFill>
                <a:latin typeface="Courier New" pitchFamily="34" charset="0"/>
                <a:ea typeface="Courier New" pitchFamily="34" charset="-122"/>
                <a:cs typeface="Courier New" pitchFamily="34" charset="-120"/>
              </a:rPr>
              <a:t>RISK DISCLOSURE</a:t>
            </a:r>
            <a:endParaRPr lang="en-US" sz="1200" dirty="0"/>
          </a:p>
        </p:txBody>
      </p:sp>
      <p:sp>
        <p:nvSpPr>
          <p:cNvPr id="3" name="Text 1"/>
          <p:cNvSpPr/>
          <p:nvPr/>
        </p:nvSpPr>
        <p:spPr>
          <a:xfrm>
            <a:off x="1371600" y="1920240"/>
            <a:ext cx="6400800" cy="2286000"/>
          </a:xfrm>
          <a:prstGeom prst="rect">
            <a:avLst/>
          </a:prstGeom>
          <a:noFill/>
          <a:ln/>
        </p:spPr>
        <p:txBody>
          <a:bodyPr wrap="square" rtlCol="0" anchor="ctr"/>
          <a:lstStyle/>
          <a:p>
            <a:pPr algn="ctr" indent="0" marL="0">
              <a:lnSpc>
                <a:spcPts val="1600"/>
              </a:lnSpc>
              <a:buNone/>
            </a:pPr>
            <a:r>
              <a:rPr lang="en-US" sz="1000" dirty="0">
                <a:solidFill>
                  <a:srgbClr val="444444"/>
                </a:solidFill>
                <a:latin typeface="Calibri" pitchFamily="34" charset="0"/>
                <a:ea typeface="Calibri" pitchFamily="34" charset="-122"/>
                <a:cs typeface="Calibri" pitchFamily="34" charset="-120"/>
              </a:rPr>
              <a:t>Trading cryptocurrency and other financial instruments carries significant risk and may not be suitable for all investors. Past performance is not indicative of future results. The information in this playbook is for educational purposes only and does not constitute financial advice.</a:t>
            </a:r>
            <a:endParaRPr lang="en-US" sz="1000" dirty="0"/>
          </a:p>
          <a:p>
            <a:pPr algn="ctr" indent="0" marL="0">
              <a:lnSpc>
                <a:spcPts val="1600"/>
              </a:lnSpc>
              <a:buNone/>
            </a:pPr>
            <a:endParaRPr lang="en-US" sz="1000" dirty="0"/>
          </a:p>
          <a:p>
            <a:pPr algn="ctr" indent="0" marL="0">
              <a:lnSpc>
                <a:spcPts val="1600"/>
              </a:lnSpc>
              <a:buNone/>
            </a:pPr>
            <a:r>
              <a:rPr lang="en-US" sz="1000" dirty="0">
                <a:solidFill>
                  <a:srgbClr val="444444"/>
                </a:solidFill>
                <a:latin typeface="Calibri" pitchFamily="34" charset="0"/>
                <a:ea typeface="Calibri" pitchFamily="34" charset="-122"/>
                <a:cs typeface="Calibri" pitchFamily="34" charset="-120"/>
              </a:rPr>
              <a:t>You should never trade with money you cannot afford to lose. Always do your own research and consider seeking advice from a qualified financial advisor before making trading decisions.</a:t>
            </a:r>
            <a:endParaRPr lang="en-US" sz="1000" dirty="0"/>
          </a:p>
          <a:p>
            <a:pPr algn="ctr" indent="0" marL="0">
              <a:lnSpc>
                <a:spcPts val="1600"/>
              </a:lnSpc>
              <a:buNone/>
            </a:pPr>
            <a:endParaRPr lang="en-US" sz="1000" dirty="0"/>
          </a:p>
          <a:p>
            <a:pPr algn="ctr" indent="0" marL="0">
              <a:lnSpc>
                <a:spcPts val="1600"/>
              </a:lnSpc>
              <a:buNone/>
            </a:pPr>
            <a:r>
              <a:rPr lang="en-US" sz="1000" dirty="0">
                <a:solidFill>
                  <a:srgbClr val="444444"/>
                </a:solidFill>
                <a:latin typeface="Calibri" pitchFamily="34" charset="0"/>
                <a:ea typeface="Calibri" pitchFamily="34" charset="-122"/>
                <a:cs typeface="Calibri" pitchFamily="34" charset="-120"/>
              </a:rPr>
              <a:t>PulseWave Labs publishes all trades transparently — wins and losses. A 40.7% win rate means the system loses more often than it wins. Profitability comes from risk management and favorable risk:reward ratios, not win rate alone.</a:t>
            </a:r>
            <a:endParaRPr lang="en-US" sz="1000" dirty="0"/>
          </a:p>
          <a:p>
            <a:pPr algn="ctr" indent="0" marL="0">
              <a:lnSpc>
                <a:spcPts val="1600"/>
              </a:lnSpc>
              <a:buNone/>
            </a:pPr>
            <a:endParaRPr lang="en-US" sz="1000" dirty="0"/>
          </a:p>
          <a:p>
            <a:pPr algn="ctr" indent="0" marL="0">
              <a:lnSpc>
                <a:spcPts val="1600"/>
              </a:lnSpc>
              <a:buNone/>
            </a:pPr>
            <a:r>
              <a:rPr lang="en-US" sz="1000" dirty="0">
                <a:solidFill>
                  <a:srgbClr val="444444"/>
                </a:solidFill>
                <a:latin typeface="Calibri" pitchFamily="34" charset="0"/>
                <a:ea typeface="Calibri" pitchFamily="34" charset="-122"/>
                <a:cs typeface="Calibri" pitchFamily="34" charset="-120"/>
              </a:rPr>
              <a:t>© 2026 PulseWave Labs — pulsewavelabs.io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5-Pair Playbook</dc:title>
  <dc:subject>PptxGenJS Presentation</dc:subject>
  <dc:creator>PulseWave Labs</dc:creator>
  <cp:lastModifiedBy>PulseWave Labs</cp:lastModifiedBy>
  <cp:revision>1</cp:revision>
  <dcterms:created xsi:type="dcterms:W3CDTF">2026-02-19T16:54:33Z</dcterms:created>
  <dcterms:modified xsi:type="dcterms:W3CDTF">2026-02-19T16:54:33Z</dcterms:modified>
</cp:coreProperties>
</file>